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libri (MS) Bold" charset="1" panose="020F0702030404030204"/>
      <p:regular r:id="rId20"/>
    </p:embeddedFont>
    <p:embeddedFont>
      <p:font typeface="Calibri (MS)" charset="1" panose="020F050202020403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Relationship Id="rId4" Target="../media/image1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7.png" Type="http://schemas.openxmlformats.org/officeDocument/2006/relationships/image"/><Relationship Id="rId4" Target="../media/image1.jpeg" Type="http://schemas.openxmlformats.org/officeDocument/2006/relationships/image"/><Relationship Id="rId5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9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6.png" Type="http://schemas.openxmlformats.org/officeDocument/2006/relationships/image"/><Relationship Id="rId4" Target="../media/image10.png" Type="http://schemas.openxmlformats.org/officeDocument/2006/relationships/image"/><Relationship Id="rId5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6.png" Type="http://schemas.openxmlformats.org/officeDocument/2006/relationships/image"/><Relationship Id="rId4" Target="../media/image1.jpe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821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472821">
                  <a:moveTo>
                    <a:pt x="0" y="0"/>
                  </a:moveTo>
                  <a:lnTo>
                    <a:pt x="472821" y="0"/>
                  </a:lnTo>
                  <a:lnTo>
                    <a:pt x="47282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02C39A"/>
            </a:solidFill>
            <a:ln w="25400" cap="sq">
              <a:solidFill>
                <a:srgbClr val="02C39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1828800"/>
            <a:ext cx="16459200" cy="1828800"/>
            <a:chOff x="0" y="0"/>
            <a:chExt cx="21945600" cy="243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09550"/>
              <a:ext cx="21945600" cy="2647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480"/>
                </a:lnSpc>
              </a:pPr>
              <a:r>
                <a:rPr lang="en-US" sz="10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Diabetes Risk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3474720"/>
            <a:ext cx="16459200" cy="1645920"/>
            <a:chOff x="0" y="0"/>
            <a:chExt cx="2194560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09550"/>
              <a:ext cx="21945600" cy="2404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480"/>
                </a:lnSpc>
              </a:pPr>
              <a:r>
                <a:rPr lang="en-US" sz="1040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Prediction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6583680"/>
            <a:ext cx="16459200" cy="548640"/>
            <a:chOff x="0" y="0"/>
            <a:chExt cx="2194560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AAB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Dataset: 100,000 patients  |  16 features  |  Target: Diabetes (0/1)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8141548"/>
            <a:ext cx="6939641" cy="1655239"/>
            <a:chOff x="0" y="0"/>
            <a:chExt cx="9252855" cy="2206985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45373"/>
              <a:ext cx="9252855" cy="2161612"/>
              <a:chOff x="0" y="0"/>
              <a:chExt cx="7973227" cy="1862671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7973265" cy="1862709"/>
              </a:xfrm>
              <a:custGeom>
                <a:avLst/>
                <a:gdLst/>
                <a:ahLst/>
                <a:cxnLst/>
                <a:rect r="r" b="b" t="t" l="l"/>
                <a:pathLst>
                  <a:path h="1862709" w="7973265">
                    <a:moveTo>
                      <a:pt x="0" y="0"/>
                    </a:moveTo>
                    <a:lnTo>
                      <a:pt x="7973265" y="0"/>
                    </a:lnTo>
                    <a:lnTo>
                      <a:pt x="7973265" y="1862709"/>
                    </a:lnTo>
                    <a:lnTo>
                      <a:pt x="0" y="1862709"/>
                    </a:lnTo>
                    <a:close/>
                  </a:path>
                </a:pathLst>
              </a:custGeom>
              <a:solidFill>
                <a:srgbClr val="0A3D52"/>
              </a:solidFill>
              <a:ln w="25400" cap="sq">
                <a:solidFill>
                  <a:srgbClr val="028090"/>
                </a:solidFill>
                <a:prstDash val="solid"/>
                <a:miter/>
              </a:ln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22830" y="0"/>
              <a:ext cx="9207179" cy="1233636"/>
              <a:chOff x="0" y="0"/>
              <a:chExt cx="7933867" cy="106303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7933867" cy="1063030"/>
              </a:xfrm>
              <a:custGeom>
                <a:avLst/>
                <a:gdLst/>
                <a:ahLst/>
                <a:cxnLst/>
                <a:rect r="r" b="b" t="t" l="l"/>
                <a:pathLst>
                  <a:path h="1063030" w="7933867">
                    <a:moveTo>
                      <a:pt x="0" y="0"/>
                    </a:moveTo>
                    <a:lnTo>
                      <a:pt x="7933867" y="0"/>
                    </a:lnTo>
                    <a:lnTo>
                      <a:pt x="7933867" y="1063030"/>
                    </a:lnTo>
                    <a:lnTo>
                      <a:pt x="0" y="106303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85004" r="13944" b="-65288"/>
                </a:stretch>
              </a:blip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76200"/>
                <a:ext cx="7933867" cy="113923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sz="4000" b="true">
                    <a:solidFill>
                      <a:srgbClr val="02C39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100K</a:t>
                </a: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22830" y="1083725"/>
              <a:ext cx="9207179" cy="622543"/>
              <a:chOff x="0" y="0"/>
              <a:chExt cx="7933867" cy="536448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7933867" cy="536448"/>
              </a:xfrm>
              <a:custGeom>
                <a:avLst/>
                <a:gdLst/>
                <a:ahLst/>
                <a:cxnLst/>
                <a:rect r="r" b="b" t="t" l="l"/>
                <a:pathLst>
                  <a:path h="536448" w="7933867">
                    <a:moveTo>
                      <a:pt x="0" y="0"/>
                    </a:moveTo>
                    <a:lnTo>
                      <a:pt x="7933867" y="0"/>
                    </a:lnTo>
                    <a:lnTo>
                      <a:pt x="7933867" y="536448"/>
                    </a:lnTo>
                    <a:lnTo>
                      <a:pt x="0" y="53644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97991" r="13944" b="-197991"/>
                </a:stretch>
              </a:blip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7933867" cy="58407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399"/>
                  </a:lnSpc>
                </a:pPr>
                <a:r>
                  <a:rPr lang="en-US" sz="1999">
                    <a:solidFill>
                      <a:srgbClr val="6AABB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Patient Records</a:t>
                </a: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10906364" y="8141548"/>
            <a:ext cx="6352936" cy="1655239"/>
            <a:chOff x="0" y="0"/>
            <a:chExt cx="8470582" cy="220698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45373"/>
              <a:ext cx="8470582" cy="2161612"/>
              <a:chOff x="0" y="0"/>
              <a:chExt cx="7299138" cy="1862671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7299177" cy="1862709"/>
              </a:xfrm>
              <a:custGeom>
                <a:avLst/>
                <a:gdLst/>
                <a:ahLst/>
                <a:cxnLst/>
                <a:rect r="r" b="b" t="t" l="l"/>
                <a:pathLst>
                  <a:path h="1862709" w="7299177">
                    <a:moveTo>
                      <a:pt x="0" y="0"/>
                    </a:moveTo>
                    <a:lnTo>
                      <a:pt x="7299177" y="0"/>
                    </a:lnTo>
                    <a:lnTo>
                      <a:pt x="7299177" y="1862709"/>
                    </a:lnTo>
                    <a:lnTo>
                      <a:pt x="0" y="1862709"/>
                    </a:lnTo>
                    <a:close/>
                  </a:path>
                </a:pathLst>
              </a:custGeom>
              <a:solidFill>
                <a:srgbClr val="0A3D52"/>
              </a:solidFill>
              <a:ln w="25400" cap="sq">
                <a:solidFill>
                  <a:srgbClr val="028090"/>
                </a:solidFill>
                <a:prstDash val="solid"/>
                <a:miter/>
              </a:ln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20899" y="0"/>
              <a:ext cx="8428767" cy="1233636"/>
              <a:chOff x="0" y="0"/>
              <a:chExt cx="7263107" cy="106303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7263106" cy="1063030"/>
              </a:xfrm>
              <a:custGeom>
                <a:avLst/>
                <a:gdLst/>
                <a:ahLst/>
                <a:cxnLst/>
                <a:rect r="r" b="b" t="t" l="l"/>
                <a:pathLst>
                  <a:path h="1063030" w="7263106">
                    <a:moveTo>
                      <a:pt x="0" y="0"/>
                    </a:moveTo>
                    <a:lnTo>
                      <a:pt x="7263106" y="0"/>
                    </a:lnTo>
                    <a:lnTo>
                      <a:pt x="7263106" y="1063030"/>
                    </a:lnTo>
                    <a:lnTo>
                      <a:pt x="0" y="106303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85004" r="5997" b="-65288"/>
                </a:stretch>
              </a:blip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85725"/>
                <a:ext cx="7263107" cy="114875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799"/>
                  </a:lnSpc>
                </a:pPr>
                <a:r>
                  <a:rPr lang="en-US" sz="3999" b="true">
                    <a:solidFill>
                      <a:srgbClr val="02C39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16</a:t>
                </a: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0899" y="1083725"/>
              <a:ext cx="8428767" cy="622543"/>
              <a:chOff x="0" y="0"/>
              <a:chExt cx="7263107" cy="536448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7263106" cy="536448"/>
              </a:xfrm>
              <a:custGeom>
                <a:avLst/>
                <a:gdLst/>
                <a:ahLst/>
                <a:cxnLst/>
                <a:rect r="r" b="b" t="t" l="l"/>
                <a:pathLst>
                  <a:path h="536448" w="7263106">
                    <a:moveTo>
                      <a:pt x="0" y="0"/>
                    </a:moveTo>
                    <a:lnTo>
                      <a:pt x="7263106" y="0"/>
                    </a:lnTo>
                    <a:lnTo>
                      <a:pt x="7263106" y="536448"/>
                    </a:lnTo>
                    <a:lnTo>
                      <a:pt x="0" y="53644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97991" r="5997" b="-197991"/>
                </a:stretch>
              </a:blip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7263107" cy="57454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>
                    <a:solidFill>
                      <a:srgbClr val="6AABB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Features</a:t>
                </a:r>
              </a:p>
            </p:txBody>
          </p:sp>
        </p:grpSp>
      </p:grpSp>
      <p:grpSp>
        <p:nvGrpSpPr>
          <p:cNvPr name="Group 31" id="31"/>
          <p:cNvGrpSpPr/>
          <p:nvPr/>
        </p:nvGrpSpPr>
        <p:grpSpPr>
          <a:xfrm rot="0">
            <a:off x="14556563" y="365760"/>
            <a:ext cx="3291840" cy="3291840"/>
            <a:chOff x="0" y="0"/>
            <a:chExt cx="6350000" cy="6350000"/>
          </a:xfrm>
        </p:grpSpPr>
        <p:sp>
          <p:nvSpPr>
            <p:cNvPr name="Freeform 32" id="32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640080"/>
            <a:ext cx="16824960" cy="1005840"/>
            <a:chOff x="0" y="0"/>
            <a:chExt cx="2243328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2433280" cy="1455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A2E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8823" y="1907543"/>
            <a:ext cx="16850363" cy="1397003"/>
            <a:chOff x="0" y="0"/>
            <a:chExt cx="22467151" cy="18626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67188" cy="1862709"/>
            </a:xfrm>
            <a:custGeom>
              <a:avLst/>
              <a:gdLst/>
              <a:ahLst/>
              <a:cxnLst/>
              <a:rect r="r" b="b" t="t" l="l"/>
              <a:pathLst>
                <a:path h="1862709" w="22467188">
                  <a:moveTo>
                    <a:pt x="0" y="0"/>
                  </a:moveTo>
                  <a:lnTo>
                    <a:pt x="22467188" y="0"/>
                  </a:lnTo>
                  <a:lnTo>
                    <a:pt x="22467188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028090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2011680"/>
            <a:ext cx="16459200" cy="1188720"/>
            <a:chOff x="0" y="0"/>
            <a:chExt cx="21945600" cy="1584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194560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Can we predict whether a patient has diabetes based on their medical history and demographic data?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25167" y="3742687"/>
            <a:ext cx="8242297" cy="1384297"/>
            <a:chOff x="0" y="0"/>
            <a:chExt cx="10989729" cy="18457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89691" cy="1845691"/>
            </a:xfrm>
            <a:custGeom>
              <a:avLst/>
              <a:gdLst/>
              <a:ahLst/>
              <a:cxnLst/>
              <a:rect r="r" b="b" t="t" l="l"/>
              <a:pathLst>
                <a:path h="1845691" w="10989691">
                  <a:moveTo>
                    <a:pt x="0" y="0"/>
                  </a:moveTo>
                  <a:lnTo>
                    <a:pt x="10989691" y="0"/>
                  </a:lnTo>
                  <a:lnTo>
                    <a:pt x="10989691" y="1845691"/>
                  </a:lnTo>
                  <a:lnTo>
                    <a:pt x="0" y="184569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E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718823" y="3736343"/>
            <a:ext cx="848363" cy="1397003"/>
            <a:chOff x="0" y="0"/>
            <a:chExt cx="1131151" cy="18626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31189" cy="1862709"/>
            </a:xfrm>
            <a:custGeom>
              <a:avLst/>
              <a:gdLst/>
              <a:ahLst/>
              <a:cxnLst/>
              <a:rect r="r" b="b" t="t" l="l"/>
              <a:pathLst>
                <a:path h="1862709" w="1131189">
                  <a:moveTo>
                    <a:pt x="0" y="0"/>
                  </a:moveTo>
                  <a:lnTo>
                    <a:pt x="1131189" y="0"/>
                  </a:lnTo>
                  <a:lnTo>
                    <a:pt x="1131189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00A896"/>
            </a:solidFill>
            <a:ln w="25400" cap="sq">
              <a:solidFill>
                <a:srgbClr val="00A896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31520" y="3749040"/>
            <a:ext cx="822960" cy="1371600"/>
            <a:chOff x="0" y="0"/>
            <a:chExt cx="1097280" cy="1828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9728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37360" y="3840480"/>
            <a:ext cx="7040880" cy="1188720"/>
            <a:chOff x="0" y="0"/>
            <a:chExt cx="9387840" cy="1584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3878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411" r="0" b="-6541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38784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2E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does age differ between diabetic &amp; non-diabetic patients?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25167" y="5352031"/>
            <a:ext cx="8242297" cy="1384297"/>
            <a:chOff x="0" y="0"/>
            <a:chExt cx="10989729" cy="18457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89691" cy="1845691"/>
            </a:xfrm>
            <a:custGeom>
              <a:avLst/>
              <a:gdLst/>
              <a:ahLst/>
              <a:cxnLst/>
              <a:rect r="r" b="b" t="t" l="l"/>
              <a:pathLst>
                <a:path h="1845691" w="10989691">
                  <a:moveTo>
                    <a:pt x="0" y="0"/>
                  </a:moveTo>
                  <a:lnTo>
                    <a:pt x="10989691" y="0"/>
                  </a:lnTo>
                  <a:lnTo>
                    <a:pt x="10989691" y="1845691"/>
                  </a:lnTo>
                  <a:lnTo>
                    <a:pt x="0" y="184569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EF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718823" y="5345687"/>
            <a:ext cx="848363" cy="1397003"/>
            <a:chOff x="0" y="0"/>
            <a:chExt cx="1131151" cy="18626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31189" cy="1862709"/>
            </a:xfrm>
            <a:custGeom>
              <a:avLst/>
              <a:gdLst/>
              <a:ahLst/>
              <a:cxnLst/>
              <a:rect r="r" b="b" t="t" l="l"/>
              <a:pathLst>
                <a:path h="1862709" w="1131189">
                  <a:moveTo>
                    <a:pt x="0" y="0"/>
                  </a:moveTo>
                  <a:lnTo>
                    <a:pt x="1131189" y="0"/>
                  </a:lnTo>
                  <a:lnTo>
                    <a:pt x="1131189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00A896"/>
            </a:solidFill>
            <a:ln w="25400" cap="sq">
              <a:solidFill>
                <a:srgbClr val="00A896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731520" y="5358384"/>
            <a:ext cx="822960" cy="1371600"/>
            <a:chOff x="0" y="0"/>
            <a:chExt cx="1097280" cy="1828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09728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737360" y="5449824"/>
            <a:ext cx="7040880" cy="1188720"/>
            <a:chOff x="0" y="0"/>
            <a:chExt cx="9387840" cy="15849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3878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411" r="0" b="-6541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938784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2E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BMI and HbA1c thresholds indicate highest diabetes risk?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25167" y="6961375"/>
            <a:ext cx="8242297" cy="1384297"/>
            <a:chOff x="0" y="0"/>
            <a:chExt cx="10989729" cy="184572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89691" cy="1845691"/>
            </a:xfrm>
            <a:custGeom>
              <a:avLst/>
              <a:gdLst/>
              <a:ahLst/>
              <a:cxnLst/>
              <a:rect r="r" b="b" t="t" l="l"/>
              <a:pathLst>
                <a:path h="1845691" w="10989691">
                  <a:moveTo>
                    <a:pt x="0" y="0"/>
                  </a:moveTo>
                  <a:lnTo>
                    <a:pt x="10989691" y="0"/>
                  </a:lnTo>
                  <a:lnTo>
                    <a:pt x="10989691" y="1845691"/>
                  </a:lnTo>
                  <a:lnTo>
                    <a:pt x="0" y="184569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EF0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718823" y="6955031"/>
            <a:ext cx="848363" cy="1397003"/>
            <a:chOff x="0" y="0"/>
            <a:chExt cx="1131151" cy="186267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31189" cy="1862709"/>
            </a:xfrm>
            <a:custGeom>
              <a:avLst/>
              <a:gdLst/>
              <a:ahLst/>
              <a:cxnLst/>
              <a:rect r="r" b="b" t="t" l="l"/>
              <a:pathLst>
                <a:path h="1862709" w="1131189">
                  <a:moveTo>
                    <a:pt x="0" y="0"/>
                  </a:moveTo>
                  <a:lnTo>
                    <a:pt x="1131189" y="0"/>
                  </a:lnTo>
                  <a:lnTo>
                    <a:pt x="1131189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00A896"/>
            </a:solidFill>
            <a:ln w="25400" cap="sq">
              <a:solidFill>
                <a:srgbClr val="00A896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731520" y="6967728"/>
            <a:ext cx="822960" cy="1371600"/>
            <a:chOff x="0" y="0"/>
            <a:chExt cx="1097280" cy="1828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09728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Q3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737360" y="7059168"/>
            <a:ext cx="7040880" cy="1188720"/>
            <a:chOff x="0" y="0"/>
            <a:chExt cx="9387840" cy="15849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3878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411" r="0" b="-6541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938784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2E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 hypertension and heart disease increase diabetes likelihood?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411967" y="3742687"/>
            <a:ext cx="8242297" cy="1384297"/>
            <a:chOff x="0" y="0"/>
            <a:chExt cx="10989729" cy="184572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89691" cy="1845691"/>
            </a:xfrm>
            <a:custGeom>
              <a:avLst/>
              <a:gdLst/>
              <a:ahLst/>
              <a:cxnLst/>
              <a:rect r="r" b="b" t="t" l="l"/>
              <a:pathLst>
                <a:path h="1845691" w="10989691">
                  <a:moveTo>
                    <a:pt x="0" y="0"/>
                  </a:moveTo>
                  <a:lnTo>
                    <a:pt x="10989691" y="0"/>
                  </a:lnTo>
                  <a:lnTo>
                    <a:pt x="10989691" y="1845691"/>
                  </a:lnTo>
                  <a:lnTo>
                    <a:pt x="0" y="184569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EF0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405623" y="3736343"/>
            <a:ext cx="848363" cy="1397003"/>
            <a:chOff x="0" y="0"/>
            <a:chExt cx="1131151" cy="186267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31189" cy="1862709"/>
            </a:xfrm>
            <a:custGeom>
              <a:avLst/>
              <a:gdLst/>
              <a:ahLst/>
              <a:cxnLst/>
              <a:rect r="r" b="b" t="t" l="l"/>
              <a:pathLst>
                <a:path h="1862709" w="1131189">
                  <a:moveTo>
                    <a:pt x="0" y="0"/>
                  </a:moveTo>
                  <a:lnTo>
                    <a:pt x="1131189" y="0"/>
                  </a:lnTo>
                  <a:lnTo>
                    <a:pt x="1131189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00A896"/>
            </a:solidFill>
            <a:ln w="25400" cap="sq">
              <a:solidFill>
                <a:srgbClr val="00A896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418320" y="3749040"/>
            <a:ext cx="822960" cy="1371600"/>
            <a:chOff x="0" y="0"/>
            <a:chExt cx="1097280" cy="1828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09728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Q4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424160" y="3840480"/>
            <a:ext cx="7040880" cy="1188720"/>
            <a:chOff x="0" y="0"/>
            <a:chExt cx="9387840" cy="15849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3878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411" r="0" b="-6541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938784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2E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does smoking history correlate with diabetes prevalence?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11967" y="5352031"/>
            <a:ext cx="8242297" cy="1384297"/>
            <a:chOff x="0" y="0"/>
            <a:chExt cx="10989729" cy="184572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89691" cy="1845691"/>
            </a:xfrm>
            <a:custGeom>
              <a:avLst/>
              <a:gdLst/>
              <a:ahLst/>
              <a:cxnLst/>
              <a:rect r="r" b="b" t="t" l="l"/>
              <a:pathLst>
                <a:path h="1845691" w="10989691">
                  <a:moveTo>
                    <a:pt x="0" y="0"/>
                  </a:moveTo>
                  <a:lnTo>
                    <a:pt x="10989691" y="0"/>
                  </a:lnTo>
                  <a:lnTo>
                    <a:pt x="10989691" y="1845691"/>
                  </a:lnTo>
                  <a:lnTo>
                    <a:pt x="0" y="184569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EF0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9405623" y="5345687"/>
            <a:ext cx="848363" cy="1397003"/>
            <a:chOff x="0" y="0"/>
            <a:chExt cx="1131151" cy="186267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31189" cy="1862709"/>
            </a:xfrm>
            <a:custGeom>
              <a:avLst/>
              <a:gdLst/>
              <a:ahLst/>
              <a:cxnLst/>
              <a:rect r="r" b="b" t="t" l="l"/>
              <a:pathLst>
                <a:path h="1862709" w="1131189">
                  <a:moveTo>
                    <a:pt x="0" y="0"/>
                  </a:moveTo>
                  <a:lnTo>
                    <a:pt x="1131189" y="0"/>
                  </a:lnTo>
                  <a:lnTo>
                    <a:pt x="1131189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00A896"/>
            </a:solidFill>
            <a:ln w="25400" cap="sq">
              <a:solidFill>
                <a:srgbClr val="00A896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9418320" y="5358384"/>
            <a:ext cx="822960" cy="1371600"/>
            <a:chOff x="0" y="0"/>
            <a:chExt cx="1097280" cy="1828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7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109728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Q5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424160" y="5449824"/>
            <a:ext cx="7040880" cy="1188720"/>
            <a:chOff x="0" y="0"/>
            <a:chExt cx="9387840" cy="15849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3878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411" r="0" b="-6541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938784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2E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Are there racial or gender-based differences in diabetes rates?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5032125" y="6922008"/>
            <a:ext cx="2860053" cy="2860053"/>
            <a:chOff x="0" y="0"/>
            <a:chExt cx="6350000" cy="63500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46335" y="1427761"/>
            <a:ext cx="5316217" cy="4411980"/>
            <a:chOff x="0" y="0"/>
            <a:chExt cx="7088289" cy="5882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88251" cy="5882572"/>
            </a:xfrm>
            <a:custGeom>
              <a:avLst/>
              <a:gdLst/>
              <a:ahLst/>
              <a:cxnLst/>
              <a:rect r="r" b="b" t="t" l="l"/>
              <a:pathLst>
                <a:path h="5882572" w="7088251">
                  <a:moveTo>
                    <a:pt x="0" y="0"/>
                  </a:moveTo>
                  <a:lnTo>
                    <a:pt x="7088251" y="0"/>
                  </a:lnTo>
                  <a:lnTo>
                    <a:pt x="7088251" y="5882572"/>
                  </a:lnTo>
                  <a:lnTo>
                    <a:pt x="0" y="5882572"/>
                  </a:lnTo>
                  <a:close/>
                </a:path>
              </a:pathLst>
            </a:custGeom>
            <a:blipFill>
              <a:blip r:embed="rId3"/>
              <a:stretch>
                <a:fillRect l="-1008" t="0" r="-1008" b="0"/>
              </a:stretch>
            </a:blipFill>
            <a:ln w="12700" cap="sq">
              <a:solidFill>
                <a:srgbClr val="E2EE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640080"/>
            <a:ext cx="16824960" cy="1005840"/>
            <a:chOff x="0" y="0"/>
            <a:chExt cx="2243328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14300"/>
              <a:ext cx="22433280" cy="1455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A2E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Exploratory Data Analysis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778076" y="5143500"/>
            <a:ext cx="7051294" cy="4732002"/>
            <a:chOff x="0" y="0"/>
            <a:chExt cx="7365748" cy="494302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365709" cy="4942970"/>
            </a:xfrm>
            <a:custGeom>
              <a:avLst/>
              <a:gdLst/>
              <a:ahLst/>
              <a:cxnLst/>
              <a:rect r="r" b="b" t="t" l="l"/>
              <a:pathLst>
                <a:path h="4942970" w="7365709">
                  <a:moveTo>
                    <a:pt x="0" y="0"/>
                  </a:moveTo>
                  <a:lnTo>
                    <a:pt x="7365709" y="0"/>
                  </a:lnTo>
                  <a:lnTo>
                    <a:pt x="7365709" y="4942970"/>
                  </a:lnTo>
                  <a:lnTo>
                    <a:pt x="0" y="4942970"/>
                  </a:lnTo>
                  <a:close/>
                </a:path>
              </a:pathLst>
            </a:custGeom>
            <a:blipFill>
              <a:blip r:embed="rId5"/>
              <a:stretch>
                <a:fillRect l="-6562" t="0" r="-6562" b="0"/>
              </a:stretch>
            </a:blipFill>
            <a:ln w="12700" cap="sq">
              <a:solidFill>
                <a:srgbClr val="E2EEF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418744" y="5242394"/>
            <a:ext cx="6561288" cy="4633107"/>
            <a:chOff x="0" y="0"/>
            <a:chExt cx="7088289" cy="50052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88251" cy="5005180"/>
            </a:xfrm>
            <a:custGeom>
              <a:avLst/>
              <a:gdLst/>
              <a:ahLst/>
              <a:cxnLst/>
              <a:rect r="r" b="b" t="t" l="l"/>
              <a:pathLst>
                <a:path h="5005180" w="7088251">
                  <a:moveTo>
                    <a:pt x="0" y="0"/>
                  </a:moveTo>
                  <a:lnTo>
                    <a:pt x="7088251" y="0"/>
                  </a:lnTo>
                  <a:lnTo>
                    <a:pt x="7088251" y="5005180"/>
                  </a:lnTo>
                  <a:lnTo>
                    <a:pt x="0" y="5005180"/>
                  </a:lnTo>
                  <a:close/>
                </a:path>
              </a:pathLst>
            </a:custGeom>
            <a:blipFill>
              <a:blip r:embed="rId6"/>
              <a:stretch>
                <a:fillRect l="-9516" t="0" r="-9516" b="0"/>
              </a:stretch>
            </a:blipFill>
            <a:ln w="12700" cap="sq">
              <a:solidFill>
                <a:srgbClr val="E2EEF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5269752" y="0"/>
            <a:ext cx="3018248" cy="3018248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630894" y="0"/>
            <a:ext cx="2657106" cy="2657106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640080"/>
            <a:ext cx="16824960" cy="1005840"/>
            <a:chOff x="0" y="0"/>
            <a:chExt cx="2243328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14300"/>
              <a:ext cx="22433280" cy="1455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A2E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Exploratory Data Analysis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564348" y="2060236"/>
            <a:ext cx="13679209" cy="7723361"/>
            <a:chOff x="0" y="0"/>
            <a:chExt cx="10516661" cy="59377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516605" cy="5937699"/>
            </a:xfrm>
            <a:custGeom>
              <a:avLst/>
              <a:gdLst/>
              <a:ahLst/>
              <a:cxnLst/>
              <a:rect r="r" b="b" t="t" l="l"/>
              <a:pathLst>
                <a:path h="5937699" w="10516605">
                  <a:moveTo>
                    <a:pt x="0" y="0"/>
                  </a:moveTo>
                  <a:lnTo>
                    <a:pt x="10516605" y="0"/>
                  </a:lnTo>
                  <a:lnTo>
                    <a:pt x="10516605" y="5937699"/>
                  </a:lnTo>
                  <a:lnTo>
                    <a:pt x="0" y="5937699"/>
                  </a:lnTo>
                  <a:close/>
                </a:path>
              </a:pathLst>
            </a:custGeom>
            <a:blipFill>
              <a:blip r:embed="rId5"/>
              <a:stretch>
                <a:fillRect l="-601" t="0" r="-601" b="0"/>
              </a:stretch>
            </a:blipFill>
            <a:ln w="12700" cap="sq">
              <a:solidFill>
                <a:srgbClr val="E2EEF0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640080"/>
            <a:ext cx="16824960" cy="1046931"/>
            <a:chOff x="0" y="0"/>
            <a:chExt cx="22433280" cy="1395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1395909"/>
            </a:xfrm>
            <a:custGeom>
              <a:avLst/>
              <a:gdLst/>
              <a:ahLst/>
              <a:cxnLst/>
              <a:rect r="r" b="b" t="t" l="l"/>
              <a:pathLst>
                <a:path h="1395909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95909"/>
                  </a:lnTo>
                  <a:lnTo>
                    <a:pt x="0" y="13959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101" r="0" b="-26117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22433280" cy="15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A2E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 Engineering &amp; Selection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25167" y="1913887"/>
            <a:ext cx="8333737" cy="7876537"/>
            <a:chOff x="0" y="0"/>
            <a:chExt cx="11111649" cy="105020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111611" cy="10502011"/>
            </a:xfrm>
            <a:custGeom>
              <a:avLst/>
              <a:gdLst/>
              <a:ahLst/>
              <a:cxnLst/>
              <a:rect r="r" b="b" t="t" l="l"/>
              <a:pathLst>
                <a:path h="10502011" w="11111611">
                  <a:moveTo>
                    <a:pt x="0" y="0"/>
                  </a:moveTo>
                  <a:lnTo>
                    <a:pt x="11111611" y="0"/>
                  </a:lnTo>
                  <a:lnTo>
                    <a:pt x="11111611" y="10502011"/>
                  </a:lnTo>
                  <a:lnTo>
                    <a:pt x="0" y="1050201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EF0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718823" y="1907543"/>
            <a:ext cx="8346443" cy="903227"/>
            <a:chOff x="0" y="0"/>
            <a:chExt cx="11128591" cy="120430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128629" cy="1204341"/>
            </a:xfrm>
            <a:custGeom>
              <a:avLst/>
              <a:gdLst/>
              <a:ahLst/>
              <a:cxnLst/>
              <a:rect r="r" b="b" t="t" l="l"/>
              <a:pathLst>
                <a:path h="1204341" w="11128629">
                  <a:moveTo>
                    <a:pt x="0" y="0"/>
                  </a:moveTo>
                  <a:lnTo>
                    <a:pt x="11128629" y="0"/>
                  </a:lnTo>
                  <a:lnTo>
                    <a:pt x="1112862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028090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05840" y="1975104"/>
            <a:ext cx="7863840" cy="768096"/>
            <a:chOff x="0" y="0"/>
            <a:chExt cx="10485120" cy="10241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85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489" r="0" b="-14948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048512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✦ New Features Created (7)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10263" y="2949959"/>
            <a:ext cx="1488443" cy="720347"/>
            <a:chOff x="0" y="0"/>
            <a:chExt cx="1984591" cy="9604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84629" cy="960501"/>
            </a:xfrm>
            <a:custGeom>
              <a:avLst/>
              <a:gdLst/>
              <a:ahLst/>
              <a:cxnLst/>
              <a:rect r="r" b="b" t="t" l="l"/>
              <a:pathLst>
                <a:path h="960501" w="1984629">
                  <a:moveTo>
                    <a:pt x="0" y="0"/>
                  </a:moveTo>
                  <a:lnTo>
                    <a:pt x="1984629" y="0"/>
                  </a:lnTo>
                  <a:lnTo>
                    <a:pt x="19846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02C39A"/>
            </a:solidFill>
            <a:ln w="25400" cap="sq">
              <a:solidFill>
                <a:srgbClr val="02C39A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2962656"/>
            <a:ext cx="1463040" cy="694944"/>
            <a:chOff x="0" y="0"/>
            <a:chExt cx="1950720" cy="9265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50720" cy="926592"/>
            </a:xfrm>
            <a:custGeom>
              <a:avLst/>
              <a:gdLst/>
              <a:ahLst/>
              <a:cxnLst/>
              <a:rect r="r" b="b" t="t" l="l"/>
              <a:pathLst>
                <a:path h="926592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944" t="0" r="-10944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950720" cy="9551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risk_score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414016" y="2999232"/>
            <a:ext cx="6400800" cy="658368"/>
            <a:chOff x="0" y="0"/>
            <a:chExt cx="8534400" cy="87782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534400" cy="877824"/>
            </a:xfrm>
            <a:custGeom>
              <a:avLst/>
              <a:gdLst/>
              <a:ahLst/>
              <a:cxnLst/>
              <a:rect r="r" b="b" t="t" l="l"/>
              <a:pathLst>
                <a:path h="877824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437" r="0" b="-13943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5344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E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Weighted combo: HbA1c(35%) + glucose(35%) + BMI(15%) + age(10%)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10263" y="3900935"/>
            <a:ext cx="1488443" cy="720347"/>
            <a:chOff x="0" y="0"/>
            <a:chExt cx="1984591" cy="9604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84629" cy="960501"/>
            </a:xfrm>
            <a:custGeom>
              <a:avLst/>
              <a:gdLst/>
              <a:ahLst/>
              <a:cxnLst/>
              <a:rect r="r" b="b" t="t" l="l"/>
              <a:pathLst>
                <a:path h="960501" w="1984629">
                  <a:moveTo>
                    <a:pt x="0" y="0"/>
                  </a:moveTo>
                  <a:lnTo>
                    <a:pt x="1984629" y="0"/>
                  </a:lnTo>
                  <a:lnTo>
                    <a:pt x="19846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02C39A"/>
            </a:solidFill>
            <a:ln w="25400" cap="sq">
              <a:solidFill>
                <a:srgbClr val="02C39A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3913632"/>
            <a:ext cx="1463040" cy="694944"/>
            <a:chOff x="0" y="0"/>
            <a:chExt cx="1950720" cy="9265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50720" cy="926592"/>
            </a:xfrm>
            <a:custGeom>
              <a:avLst/>
              <a:gdLst/>
              <a:ahLst/>
              <a:cxnLst/>
              <a:rect r="r" b="b" t="t" l="l"/>
              <a:pathLst>
                <a:path h="926592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944" t="0" r="-10944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1950720" cy="9551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high_hba1c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414016" y="3950208"/>
            <a:ext cx="6400800" cy="658368"/>
            <a:chOff x="0" y="0"/>
            <a:chExt cx="8534400" cy="87782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534400" cy="877824"/>
            </a:xfrm>
            <a:custGeom>
              <a:avLst/>
              <a:gdLst/>
              <a:ahLst/>
              <a:cxnLst/>
              <a:rect r="r" b="b" t="t" l="l"/>
              <a:pathLst>
                <a:path h="877824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437" r="0" b="-13943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5344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E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Binary: HbA1c ≥ 6.5% (clinical diabetes threshold)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10263" y="4851911"/>
            <a:ext cx="1488443" cy="720347"/>
            <a:chOff x="0" y="0"/>
            <a:chExt cx="1984591" cy="96046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84629" cy="960501"/>
            </a:xfrm>
            <a:custGeom>
              <a:avLst/>
              <a:gdLst/>
              <a:ahLst/>
              <a:cxnLst/>
              <a:rect r="r" b="b" t="t" l="l"/>
              <a:pathLst>
                <a:path h="960501" w="1984629">
                  <a:moveTo>
                    <a:pt x="0" y="0"/>
                  </a:moveTo>
                  <a:lnTo>
                    <a:pt x="1984629" y="0"/>
                  </a:lnTo>
                  <a:lnTo>
                    <a:pt x="19846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02C39A"/>
            </a:solidFill>
            <a:ln w="25400" cap="sq">
              <a:solidFill>
                <a:srgbClr val="02C39A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822960" y="4864608"/>
            <a:ext cx="1463040" cy="694944"/>
            <a:chOff x="0" y="0"/>
            <a:chExt cx="1950720" cy="9265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50720" cy="926592"/>
            </a:xfrm>
            <a:custGeom>
              <a:avLst/>
              <a:gdLst/>
              <a:ahLst/>
              <a:cxnLst/>
              <a:rect r="r" b="b" t="t" l="l"/>
              <a:pathLst>
                <a:path h="926592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944" t="0" r="-10944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1950720" cy="9551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high_glucose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414016" y="4901184"/>
            <a:ext cx="6400800" cy="658368"/>
            <a:chOff x="0" y="0"/>
            <a:chExt cx="8534400" cy="87782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534400" cy="877824"/>
            </a:xfrm>
            <a:custGeom>
              <a:avLst/>
              <a:gdLst/>
              <a:ahLst/>
              <a:cxnLst/>
              <a:rect r="r" b="b" t="t" l="l"/>
              <a:pathLst>
                <a:path h="877824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437" r="0" b="-13943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85344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E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Binary: blood glucose ≥ 200 mg/dL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10263" y="5802887"/>
            <a:ext cx="1488443" cy="720347"/>
            <a:chOff x="0" y="0"/>
            <a:chExt cx="1984591" cy="96046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84629" cy="960501"/>
            </a:xfrm>
            <a:custGeom>
              <a:avLst/>
              <a:gdLst/>
              <a:ahLst/>
              <a:cxnLst/>
              <a:rect r="r" b="b" t="t" l="l"/>
              <a:pathLst>
                <a:path h="960501" w="1984629">
                  <a:moveTo>
                    <a:pt x="0" y="0"/>
                  </a:moveTo>
                  <a:lnTo>
                    <a:pt x="1984629" y="0"/>
                  </a:lnTo>
                  <a:lnTo>
                    <a:pt x="19846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02C39A"/>
            </a:solidFill>
            <a:ln w="25400" cap="sq">
              <a:solidFill>
                <a:srgbClr val="02C39A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822960" y="5815584"/>
            <a:ext cx="1463040" cy="694944"/>
            <a:chOff x="0" y="0"/>
            <a:chExt cx="1950720" cy="9265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50720" cy="926592"/>
            </a:xfrm>
            <a:custGeom>
              <a:avLst/>
              <a:gdLst/>
              <a:ahLst/>
              <a:cxnLst/>
              <a:rect r="r" b="b" t="t" l="l"/>
              <a:pathLst>
                <a:path h="926592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944" t="0" r="-10944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1950720" cy="9551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has_comorbidity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414016" y="5852160"/>
            <a:ext cx="6400800" cy="658368"/>
            <a:chOff x="0" y="0"/>
            <a:chExt cx="8534400" cy="87782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534400" cy="877824"/>
            </a:xfrm>
            <a:custGeom>
              <a:avLst/>
              <a:gdLst/>
              <a:ahLst/>
              <a:cxnLst/>
              <a:rect r="r" b="b" t="t" l="l"/>
              <a:pathLst>
                <a:path h="877824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437" r="0" b="-13943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85344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E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Binary: has BOTH hypertension AND heart disease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10263" y="6753863"/>
            <a:ext cx="1488443" cy="720347"/>
            <a:chOff x="0" y="0"/>
            <a:chExt cx="1984591" cy="96046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984629" cy="960501"/>
            </a:xfrm>
            <a:custGeom>
              <a:avLst/>
              <a:gdLst/>
              <a:ahLst/>
              <a:cxnLst/>
              <a:rect r="r" b="b" t="t" l="l"/>
              <a:pathLst>
                <a:path h="960501" w="1984629">
                  <a:moveTo>
                    <a:pt x="0" y="0"/>
                  </a:moveTo>
                  <a:lnTo>
                    <a:pt x="1984629" y="0"/>
                  </a:lnTo>
                  <a:lnTo>
                    <a:pt x="19846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02C39A"/>
            </a:solidFill>
            <a:ln w="25400" cap="sq">
              <a:solidFill>
                <a:srgbClr val="02C39A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822960" y="6766560"/>
            <a:ext cx="1463040" cy="694944"/>
            <a:chOff x="0" y="0"/>
            <a:chExt cx="1950720" cy="92659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950720" cy="926592"/>
            </a:xfrm>
            <a:custGeom>
              <a:avLst/>
              <a:gdLst/>
              <a:ahLst/>
              <a:cxnLst/>
              <a:rect r="r" b="b" t="t" l="l"/>
              <a:pathLst>
                <a:path h="926592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944" t="0" r="-10944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1950720" cy="9551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age_group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414016" y="6803136"/>
            <a:ext cx="6400800" cy="658368"/>
            <a:chOff x="0" y="0"/>
            <a:chExt cx="8534400" cy="87782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534400" cy="877824"/>
            </a:xfrm>
            <a:custGeom>
              <a:avLst/>
              <a:gdLst/>
              <a:ahLst/>
              <a:cxnLst/>
              <a:rect r="r" b="b" t="t" l="l"/>
              <a:pathLst>
                <a:path h="877824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437" r="0" b="-13943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85344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E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 binned: 0-18, 19-35, 36-50, 51-65, 65+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10263" y="7704839"/>
            <a:ext cx="1488443" cy="720347"/>
            <a:chOff x="0" y="0"/>
            <a:chExt cx="1984591" cy="96046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984629" cy="960501"/>
            </a:xfrm>
            <a:custGeom>
              <a:avLst/>
              <a:gdLst/>
              <a:ahLst/>
              <a:cxnLst/>
              <a:rect r="r" b="b" t="t" l="l"/>
              <a:pathLst>
                <a:path h="960501" w="1984629">
                  <a:moveTo>
                    <a:pt x="0" y="0"/>
                  </a:moveTo>
                  <a:lnTo>
                    <a:pt x="1984629" y="0"/>
                  </a:lnTo>
                  <a:lnTo>
                    <a:pt x="19846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02C39A"/>
            </a:solidFill>
            <a:ln w="25400" cap="sq">
              <a:solidFill>
                <a:srgbClr val="02C39A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822960" y="7717536"/>
            <a:ext cx="1463040" cy="694944"/>
            <a:chOff x="0" y="0"/>
            <a:chExt cx="1950720" cy="92659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950720" cy="926592"/>
            </a:xfrm>
            <a:custGeom>
              <a:avLst/>
              <a:gdLst/>
              <a:ahLst/>
              <a:cxnLst/>
              <a:rect r="r" b="b" t="t" l="l"/>
              <a:pathLst>
                <a:path h="926592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944" t="0" r="-10944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1950720" cy="9551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bmi_category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2414016" y="7754112"/>
            <a:ext cx="6400800" cy="658368"/>
            <a:chOff x="0" y="0"/>
            <a:chExt cx="8534400" cy="87782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534400" cy="877824"/>
            </a:xfrm>
            <a:custGeom>
              <a:avLst/>
              <a:gdLst/>
              <a:ahLst/>
              <a:cxnLst/>
              <a:rect r="r" b="b" t="t" l="l"/>
              <a:pathLst>
                <a:path h="877824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437" r="0" b="-13943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85344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E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WHO BMI: Underweight / Normal / Overweight / Obese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10263" y="8655815"/>
            <a:ext cx="1488443" cy="720347"/>
            <a:chOff x="0" y="0"/>
            <a:chExt cx="1984591" cy="96046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984629" cy="960501"/>
            </a:xfrm>
            <a:custGeom>
              <a:avLst/>
              <a:gdLst/>
              <a:ahLst/>
              <a:cxnLst/>
              <a:rect r="r" b="b" t="t" l="l"/>
              <a:pathLst>
                <a:path h="960501" w="1984629">
                  <a:moveTo>
                    <a:pt x="0" y="0"/>
                  </a:moveTo>
                  <a:lnTo>
                    <a:pt x="1984629" y="0"/>
                  </a:lnTo>
                  <a:lnTo>
                    <a:pt x="19846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02C39A"/>
            </a:solidFill>
            <a:ln w="25400" cap="sq">
              <a:solidFill>
                <a:srgbClr val="02C39A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822960" y="8668512"/>
            <a:ext cx="1463040" cy="694944"/>
            <a:chOff x="0" y="0"/>
            <a:chExt cx="1950720" cy="9265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950720" cy="926592"/>
            </a:xfrm>
            <a:custGeom>
              <a:avLst/>
              <a:gdLst/>
              <a:ahLst/>
              <a:cxnLst/>
              <a:rect r="r" b="b" t="t" l="l"/>
              <a:pathLst>
                <a:path h="926592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944" t="0" r="-10944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1950720" cy="9551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is_senior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2414016" y="8705088"/>
            <a:ext cx="6400800" cy="658368"/>
            <a:chOff x="0" y="0"/>
            <a:chExt cx="8534400" cy="87782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534400" cy="877824"/>
            </a:xfrm>
            <a:custGeom>
              <a:avLst/>
              <a:gdLst/>
              <a:ahLst/>
              <a:cxnLst/>
              <a:rect r="r" b="b" t="t" l="l"/>
              <a:pathLst>
                <a:path h="877824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437" r="0" b="-13943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85344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E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Binary flag: age ≥ 60 (elevated risk group)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6066768" y="-163832"/>
            <a:ext cx="2385065" cy="2385065"/>
            <a:chOff x="0" y="0"/>
            <a:chExt cx="6350000" cy="6350000"/>
          </a:xfrm>
        </p:grpSpPr>
        <p:sp>
          <p:nvSpPr>
            <p:cNvPr name="Freeform 69" id="69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229087" y="1913887"/>
            <a:ext cx="8333737" cy="7876537"/>
            <a:chOff x="0" y="0"/>
            <a:chExt cx="11111649" cy="1050204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111611" cy="10502011"/>
            </a:xfrm>
            <a:custGeom>
              <a:avLst/>
              <a:gdLst/>
              <a:ahLst/>
              <a:cxnLst/>
              <a:rect r="r" b="b" t="t" l="l"/>
              <a:pathLst>
                <a:path h="10502011" w="11111611">
                  <a:moveTo>
                    <a:pt x="0" y="0"/>
                  </a:moveTo>
                  <a:lnTo>
                    <a:pt x="11111611" y="0"/>
                  </a:lnTo>
                  <a:lnTo>
                    <a:pt x="11111611" y="10502011"/>
                  </a:lnTo>
                  <a:lnTo>
                    <a:pt x="0" y="1050201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EF0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9222743" y="1907543"/>
            <a:ext cx="8346443" cy="903227"/>
            <a:chOff x="0" y="0"/>
            <a:chExt cx="11128591" cy="1204303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128629" cy="1204341"/>
            </a:xfrm>
            <a:custGeom>
              <a:avLst/>
              <a:gdLst/>
              <a:ahLst/>
              <a:cxnLst/>
              <a:rect r="r" b="b" t="t" l="l"/>
              <a:pathLst>
                <a:path h="1204341" w="11128629">
                  <a:moveTo>
                    <a:pt x="0" y="0"/>
                  </a:moveTo>
                  <a:lnTo>
                    <a:pt x="11128629" y="0"/>
                  </a:lnTo>
                  <a:lnTo>
                    <a:pt x="1112862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00A896"/>
            </a:solidFill>
            <a:ln w="25400" cap="sq">
              <a:solidFill>
                <a:srgbClr val="00A896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9473184" y="1975104"/>
            <a:ext cx="7863840" cy="768096"/>
            <a:chOff x="0" y="0"/>
            <a:chExt cx="10485120" cy="102412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485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489" r="0" b="-14948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57150"/>
              <a:ext cx="1048512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✦ Feature Selection (3 Methods)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320527" y="3066031"/>
            <a:ext cx="8059417" cy="1932937"/>
            <a:chOff x="0" y="0"/>
            <a:chExt cx="10745889" cy="257724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745851" cy="2577211"/>
            </a:xfrm>
            <a:custGeom>
              <a:avLst/>
              <a:gdLst/>
              <a:ahLst/>
              <a:cxnLst/>
              <a:rect r="r" b="b" t="t" l="l"/>
              <a:pathLst>
                <a:path h="2577211" w="10745851">
                  <a:moveTo>
                    <a:pt x="0" y="0"/>
                  </a:moveTo>
                  <a:lnTo>
                    <a:pt x="10745851" y="0"/>
                  </a:lnTo>
                  <a:lnTo>
                    <a:pt x="10745851" y="2577211"/>
                  </a:lnTo>
                  <a:lnTo>
                    <a:pt x="0" y="2577211"/>
                  </a:lnTo>
                  <a:close/>
                </a:path>
              </a:pathLst>
            </a:custGeom>
            <a:solidFill>
              <a:srgbClr val="F0FAFA"/>
            </a:solidFill>
            <a:ln w="12700" cap="sq">
              <a:solidFill>
                <a:srgbClr val="E2EEF0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9314183" y="3059687"/>
            <a:ext cx="153419" cy="1945643"/>
            <a:chOff x="0" y="0"/>
            <a:chExt cx="204559" cy="259419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04597" cy="2594229"/>
            </a:xfrm>
            <a:custGeom>
              <a:avLst/>
              <a:gdLst/>
              <a:ahLst/>
              <a:cxnLst/>
              <a:rect r="r" b="b" t="t" l="l"/>
              <a:pathLst>
                <a:path h="2594229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00A896"/>
            </a:solidFill>
            <a:ln w="25400" cap="sq">
              <a:solidFill>
                <a:srgbClr val="00A896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9601200" y="3163824"/>
            <a:ext cx="7498080" cy="548640"/>
            <a:chOff x="0" y="0"/>
            <a:chExt cx="9997440" cy="73152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57150"/>
              <a:ext cx="999744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Filter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601200" y="3712464"/>
            <a:ext cx="7498080" cy="512064"/>
            <a:chOff x="0" y="0"/>
            <a:chExt cx="9997440" cy="68275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99974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2E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SelectKBest (ANOVA F-score)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601200" y="4261104"/>
            <a:ext cx="7498080" cy="457200"/>
            <a:chOff x="0" y="0"/>
            <a:chExt cx="9997440" cy="6096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9997440" cy="609600"/>
            </a:xfrm>
            <a:custGeom>
              <a:avLst/>
              <a:gdLst/>
              <a:ahLst/>
              <a:cxnLst/>
              <a:rect r="r" b="b" t="t" l="l"/>
              <a:pathLst>
                <a:path h="6096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554" r="0" b="-269554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99974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Top 15 features selected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9320527" y="5260591"/>
            <a:ext cx="8059417" cy="1932937"/>
            <a:chOff x="0" y="0"/>
            <a:chExt cx="10745889" cy="2577249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745851" cy="2577211"/>
            </a:xfrm>
            <a:custGeom>
              <a:avLst/>
              <a:gdLst/>
              <a:ahLst/>
              <a:cxnLst/>
              <a:rect r="r" b="b" t="t" l="l"/>
              <a:pathLst>
                <a:path h="2577211" w="10745851">
                  <a:moveTo>
                    <a:pt x="0" y="0"/>
                  </a:moveTo>
                  <a:lnTo>
                    <a:pt x="10745851" y="0"/>
                  </a:lnTo>
                  <a:lnTo>
                    <a:pt x="10745851" y="2577211"/>
                  </a:lnTo>
                  <a:lnTo>
                    <a:pt x="0" y="2577211"/>
                  </a:lnTo>
                  <a:close/>
                </a:path>
              </a:pathLst>
            </a:custGeom>
            <a:solidFill>
              <a:srgbClr val="F0FAFA"/>
            </a:solidFill>
            <a:ln w="12700" cap="sq">
              <a:solidFill>
                <a:srgbClr val="E2EEF0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9314183" y="5254247"/>
            <a:ext cx="153419" cy="1945643"/>
            <a:chOff x="0" y="0"/>
            <a:chExt cx="204559" cy="259419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04597" cy="2594229"/>
            </a:xfrm>
            <a:custGeom>
              <a:avLst/>
              <a:gdLst/>
              <a:ahLst/>
              <a:cxnLst/>
              <a:rect r="r" b="b" t="t" l="l"/>
              <a:pathLst>
                <a:path h="2594229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00A896"/>
            </a:solidFill>
            <a:ln w="25400" cap="sq">
              <a:solidFill>
                <a:srgbClr val="00A896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9601200" y="5358384"/>
            <a:ext cx="7498080" cy="548640"/>
            <a:chOff x="0" y="0"/>
            <a:chExt cx="9997440" cy="73152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57150"/>
              <a:ext cx="999744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Embedded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9601200" y="5907024"/>
            <a:ext cx="7498080" cy="512064"/>
            <a:chOff x="0" y="0"/>
            <a:chExt cx="9997440" cy="68275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99974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2E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 Forest Importance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9601200" y="6455664"/>
            <a:ext cx="7498080" cy="457200"/>
            <a:chOff x="0" y="0"/>
            <a:chExt cx="9997440" cy="6096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9997440" cy="609600"/>
            </a:xfrm>
            <a:custGeom>
              <a:avLst/>
              <a:gdLst/>
              <a:ahLst/>
              <a:cxnLst/>
              <a:rect r="r" b="b" t="t" l="l"/>
              <a:pathLst>
                <a:path h="6096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554" r="0" b="-269554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99974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Top 15 by importance score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9320527" y="7455151"/>
            <a:ext cx="8059417" cy="1932937"/>
            <a:chOff x="0" y="0"/>
            <a:chExt cx="10745889" cy="2577249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0745851" cy="2577211"/>
            </a:xfrm>
            <a:custGeom>
              <a:avLst/>
              <a:gdLst/>
              <a:ahLst/>
              <a:cxnLst/>
              <a:rect r="r" b="b" t="t" l="l"/>
              <a:pathLst>
                <a:path h="2577211" w="10745851">
                  <a:moveTo>
                    <a:pt x="0" y="0"/>
                  </a:moveTo>
                  <a:lnTo>
                    <a:pt x="10745851" y="0"/>
                  </a:lnTo>
                  <a:lnTo>
                    <a:pt x="10745851" y="2577211"/>
                  </a:lnTo>
                  <a:lnTo>
                    <a:pt x="0" y="2577211"/>
                  </a:lnTo>
                  <a:close/>
                </a:path>
              </a:pathLst>
            </a:custGeom>
            <a:solidFill>
              <a:srgbClr val="F0FAFA"/>
            </a:solidFill>
            <a:ln w="12700" cap="sq">
              <a:solidFill>
                <a:srgbClr val="E2EEF0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9314183" y="7448807"/>
            <a:ext cx="153419" cy="1945643"/>
            <a:chOff x="0" y="0"/>
            <a:chExt cx="204559" cy="2594191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04597" cy="2594229"/>
            </a:xfrm>
            <a:custGeom>
              <a:avLst/>
              <a:gdLst/>
              <a:ahLst/>
              <a:cxnLst/>
              <a:rect r="r" b="b" t="t" l="l"/>
              <a:pathLst>
                <a:path h="2594229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00A896"/>
            </a:solidFill>
            <a:ln w="25400" cap="sq">
              <a:solidFill>
                <a:srgbClr val="00A896"/>
              </a:solidFill>
              <a:prstDash val="solid"/>
              <a:miter/>
            </a:ln>
          </p:spPr>
        </p:sp>
      </p:grpSp>
      <p:grpSp>
        <p:nvGrpSpPr>
          <p:cNvPr name="Group 107" id="107"/>
          <p:cNvGrpSpPr/>
          <p:nvPr/>
        </p:nvGrpSpPr>
        <p:grpSpPr>
          <a:xfrm rot="0">
            <a:off x="9601200" y="7552944"/>
            <a:ext cx="7498080" cy="548640"/>
            <a:chOff x="0" y="0"/>
            <a:chExt cx="9997440" cy="73152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57150"/>
              <a:ext cx="999744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Wrapper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9601200" y="8101584"/>
            <a:ext cx="7498080" cy="512064"/>
            <a:chOff x="0" y="0"/>
            <a:chExt cx="9997440" cy="68275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99974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2E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Recursive Feature Elimination (RFE)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601200" y="8650224"/>
            <a:ext cx="7498080" cy="457200"/>
            <a:chOff x="0" y="0"/>
            <a:chExt cx="9997440" cy="6096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9997440" cy="609600"/>
            </a:xfrm>
            <a:custGeom>
              <a:avLst/>
              <a:gdLst/>
              <a:ahLst/>
              <a:cxnLst/>
              <a:rect r="r" b="b" t="t" l="l"/>
              <a:pathLst>
                <a:path h="6096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554" r="0" b="-269554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99974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 features selected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9320527" y="8589007"/>
            <a:ext cx="8059417" cy="927097"/>
            <a:chOff x="0" y="0"/>
            <a:chExt cx="10745889" cy="1236129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0745851" cy="1236091"/>
            </a:xfrm>
            <a:custGeom>
              <a:avLst/>
              <a:gdLst/>
              <a:ahLst/>
              <a:cxnLst/>
              <a:rect r="r" b="b" t="t" l="l"/>
              <a:pathLst>
                <a:path h="1236091" w="10745851">
                  <a:moveTo>
                    <a:pt x="0" y="0"/>
                  </a:moveTo>
                  <a:lnTo>
                    <a:pt x="10745851" y="0"/>
                  </a:lnTo>
                  <a:lnTo>
                    <a:pt x="10745851" y="1236091"/>
                  </a:lnTo>
                  <a:lnTo>
                    <a:pt x="0" y="1236091"/>
                  </a:lnTo>
                  <a:close/>
                </a:path>
              </a:pathLst>
            </a:custGeom>
            <a:solidFill>
              <a:srgbClr val="FFF3E0"/>
            </a:solidFill>
            <a:ln w="12700" cap="sq">
              <a:solidFill>
                <a:srgbClr val="FFB74D"/>
              </a:solidFill>
              <a:prstDash val="solid"/>
              <a:miter/>
            </a:ln>
          </p:spPr>
        </p:sp>
      </p:grpSp>
      <p:grpSp>
        <p:nvGrpSpPr>
          <p:cNvPr name="Group 118" id="118"/>
          <p:cNvGrpSpPr/>
          <p:nvPr/>
        </p:nvGrpSpPr>
        <p:grpSpPr>
          <a:xfrm rot="0">
            <a:off x="9509760" y="8650224"/>
            <a:ext cx="7680960" cy="804672"/>
            <a:chOff x="0" y="0"/>
            <a:chExt cx="10241280" cy="107289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02412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993" r="0" b="-135993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1024128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E651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⚠  Dropped: year (imbalanced) &amp; location (too granular — 50 states)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640080"/>
            <a:ext cx="16824960" cy="1123801"/>
            <a:chOff x="0" y="0"/>
            <a:chExt cx="22433280" cy="1498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1498402"/>
            </a:xfrm>
            <a:custGeom>
              <a:avLst/>
              <a:gdLst/>
              <a:ahLst/>
              <a:cxnLst/>
              <a:rect r="r" b="b" t="t" l="l"/>
              <a:pathLst>
                <a:path h="149840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968" r="0" b="-23647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243328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A2E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</a:t>
              </a:r>
              <a:r>
                <a:rPr lang="en-US" sz="5599" b="true">
                  <a:solidFill>
                    <a:srgbClr val="1A2E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ature Engineering &amp; Selection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65760" y="2349067"/>
            <a:ext cx="17190720" cy="6909233"/>
            <a:chOff x="0" y="0"/>
            <a:chExt cx="14773637" cy="59377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773557" cy="5937699"/>
            </a:xfrm>
            <a:custGeom>
              <a:avLst/>
              <a:gdLst/>
              <a:ahLst/>
              <a:cxnLst/>
              <a:rect r="r" b="b" t="t" l="l"/>
              <a:pathLst>
                <a:path h="5937699" w="14773557">
                  <a:moveTo>
                    <a:pt x="0" y="0"/>
                  </a:moveTo>
                  <a:lnTo>
                    <a:pt x="14773557" y="0"/>
                  </a:lnTo>
                  <a:lnTo>
                    <a:pt x="14773557" y="5937699"/>
                  </a:lnTo>
                  <a:lnTo>
                    <a:pt x="0" y="5937699"/>
                  </a:lnTo>
                  <a:close/>
                </a:path>
              </a:pathLst>
            </a:custGeom>
            <a:blipFill>
              <a:blip r:embed="rId4"/>
              <a:stretch>
                <a:fillRect l="0" t="-1689" r="0" b="-1689"/>
              </a:stretch>
            </a:blipFill>
            <a:ln w="12700" cap="sq">
              <a:solidFill>
                <a:srgbClr val="E2EEF0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948714" y="-207243"/>
            <a:ext cx="2556310" cy="2556310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640080"/>
            <a:ext cx="16824960" cy="1005840"/>
            <a:chOff x="0" y="0"/>
            <a:chExt cx="2243328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2433280" cy="1455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A2E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Training &amp; Comparison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25167" y="2005327"/>
            <a:ext cx="16837657" cy="2024377"/>
            <a:chOff x="0" y="0"/>
            <a:chExt cx="22450209" cy="26991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50171" cy="2699131"/>
            </a:xfrm>
            <a:custGeom>
              <a:avLst/>
              <a:gdLst/>
              <a:ahLst/>
              <a:cxnLst/>
              <a:rect r="r" b="b" t="t" l="l"/>
              <a:pathLst>
                <a:path h="2699131" w="22450171">
                  <a:moveTo>
                    <a:pt x="0" y="0"/>
                  </a:moveTo>
                  <a:lnTo>
                    <a:pt x="22450171" y="0"/>
                  </a:lnTo>
                  <a:lnTo>
                    <a:pt x="22450171" y="2699131"/>
                  </a:lnTo>
                  <a:lnTo>
                    <a:pt x="0" y="269913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EF0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718823" y="1998983"/>
            <a:ext cx="171707" cy="2037083"/>
            <a:chOff x="0" y="0"/>
            <a:chExt cx="228943" cy="27161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8981" cy="2716149"/>
            </a:xfrm>
            <a:custGeom>
              <a:avLst/>
              <a:gdLst/>
              <a:ahLst/>
              <a:cxnLst/>
              <a:rect r="r" b="b" t="t" l="l"/>
              <a:pathLst>
                <a:path h="2716149" w="228981">
                  <a:moveTo>
                    <a:pt x="0" y="0"/>
                  </a:moveTo>
                  <a:lnTo>
                    <a:pt x="228981" y="0"/>
                  </a:lnTo>
                  <a:lnTo>
                    <a:pt x="228981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028090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05840" y="2103120"/>
            <a:ext cx="1005840" cy="822960"/>
            <a:chOff x="0" y="0"/>
            <a:chExt cx="134112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1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975" t="0" r="-54975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34112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157984" y="2157984"/>
            <a:ext cx="8229600" cy="694944"/>
            <a:chOff x="0" y="0"/>
            <a:chExt cx="10972800" cy="9265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743" r="0" b="-18074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097280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A2E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Logistic Regression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157984" y="2889504"/>
            <a:ext cx="10058400" cy="438912"/>
            <a:chOff x="0" y="0"/>
            <a:chExt cx="13411200" cy="5852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11200" cy="585216"/>
            </a:xfrm>
            <a:custGeom>
              <a:avLst/>
              <a:gdLst/>
              <a:ahLst/>
              <a:cxnLst/>
              <a:rect r="r" b="b" t="t" l="l"/>
              <a:pathLst>
                <a:path h="585216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532" r="0" b="-39653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3411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Params: class_weight=balanced, max_iter=1000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157984" y="3328416"/>
            <a:ext cx="10058400" cy="438912"/>
            <a:chOff x="0" y="0"/>
            <a:chExt cx="13411200" cy="5852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11200" cy="585216"/>
            </a:xfrm>
            <a:custGeom>
              <a:avLst/>
              <a:gdLst/>
              <a:ahLst/>
              <a:cxnLst/>
              <a:rect r="r" b="b" t="t" l="l"/>
              <a:pathLst>
                <a:path h="585216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532" r="0" b="-39653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3411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2809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Baseline model — fast, interpretable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25167" y="4291327"/>
            <a:ext cx="16837657" cy="2024377"/>
            <a:chOff x="0" y="0"/>
            <a:chExt cx="22450209" cy="269916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450171" cy="2699131"/>
            </a:xfrm>
            <a:custGeom>
              <a:avLst/>
              <a:gdLst/>
              <a:ahLst/>
              <a:cxnLst/>
              <a:rect r="r" b="b" t="t" l="l"/>
              <a:pathLst>
                <a:path h="2699131" w="22450171">
                  <a:moveTo>
                    <a:pt x="0" y="0"/>
                  </a:moveTo>
                  <a:lnTo>
                    <a:pt x="22450171" y="0"/>
                  </a:lnTo>
                  <a:lnTo>
                    <a:pt x="22450171" y="2699131"/>
                  </a:lnTo>
                  <a:lnTo>
                    <a:pt x="0" y="269913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EF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718823" y="4284983"/>
            <a:ext cx="171707" cy="2037083"/>
            <a:chOff x="0" y="0"/>
            <a:chExt cx="228943" cy="27161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8981" cy="2716149"/>
            </a:xfrm>
            <a:custGeom>
              <a:avLst/>
              <a:gdLst/>
              <a:ahLst/>
              <a:cxnLst/>
              <a:rect r="r" b="b" t="t" l="l"/>
              <a:pathLst>
                <a:path h="2716149" w="228981">
                  <a:moveTo>
                    <a:pt x="0" y="0"/>
                  </a:moveTo>
                  <a:lnTo>
                    <a:pt x="228981" y="0"/>
                  </a:lnTo>
                  <a:lnTo>
                    <a:pt x="228981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00A896"/>
            </a:solidFill>
            <a:ln w="25400" cap="sq">
              <a:solidFill>
                <a:srgbClr val="00A896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005840" y="4389120"/>
            <a:ext cx="1005840" cy="822960"/>
            <a:chOff x="0" y="0"/>
            <a:chExt cx="1341120" cy="1097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41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975" t="0" r="-54975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76200"/>
              <a:ext cx="134112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0A8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157984" y="4443984"/>
            <a:ext cx="8229600" cy="694944"/>
            <a:chOff x="0" y="0"/>
            <a:chExt cx="10972800" cy="9265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743" r="0" b="-18074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1097280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A2E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Random Forest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157984" y="5175504"/>
            <a:ext cx="10058400" cy="438912"/>
            <a:chOff x="0" y="0"/>
            <a:chExt cx="13411200" cy="58521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411200" cy="585216"/>
            </a:xfrm>
            <a:custGeom>
              <a:avLst/>
              <a:gdLst/>
              <a:ahLst/>
              <a:cxnLst/>
              <a:rect r="r" b="b" t="t" l="l"/>
              <a:pathLst>
                <a:path h="585216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532" r="0" b="-39653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3411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Params: n_estimators=100, class_weight=balanced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157984" y="5614416"/>
            <a:ext cx="10058400" cy="438912"/>
            <a:chOff x="0" y="0"/>
            <a:chExt cx="13411200" cy="58521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411200" cy="585216"/>
            </a:xfrm>
            <a:custGeom>
              <a:avLst/>
              <a:gdLst/>
              <a:ahLst/>
              <a:cxnLst/>
              <a:rect r="r" b="b" t="t" l="l"/>
              <a:pathLst>
                <a:path h="585216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532" r="0" b="-39653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3411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2809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Handles non-linearity, robust to outliers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25167" y="6577327"/>
            <a:ext cx="16837657" cy="2024377"/>
            <a:chOff x="0" y="0"/>
            <a:chExt cx="22450209" cy="269916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450171" cy="2699131"/>
            </a:xfrm>
            <a:custGeom>
              <a:avLst/>
              <a:gdLst/>
              <a:ahLst/>
              <a:cxnLst/>
              <a:rect r="r" b="b" t="t" l="l"/>
              <a:pathLst>
                <a:path h="2699131" w="22450171">
                  <a:moveTo>
                    <a:pt x="0" y="0"/>
                  </a:moveTo>
                  <a:lnTo>
                    <a:pt x="22450171" y="0"/>
                  </a:lnTo>
                  <a:lnTo>
                    <a:pt x="22450171" y="2699131"/>
                  </a:lnTo>
                  <a:lnTo>
                    <a:pt x="0" y="269913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EF0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718823" y="6570983"/>
            <a:ext cx="171707" cy="2037083"/>
            <a:chOff x="0" y="0"/>
            <a:chExt cx="228943" cy="271611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8981" cy="2716149"/>
            </a:xfrm>
            <a:custGeom>
              <a:avLst/>
              <a:gdLst/>
              <a:ahLst/>
              <a:cxnLst/>
              <a:rect r="r" b="b" t="t" l="l"/>
              <a:pathLst>
                <a:path h="2716149" w="228981">
                  <a:moveTo>
                    <a:pt x="0" y="0"/>
                  </a:moveTo>
                  <a:lnTo>
                    <a:pt x="228981" y="0"/>
                  </a:lnTo>
                  <a:lnTo>
                    <a:pt x="228981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02C39A"/>
            </a:solidFill>
            <a:ln w="25400" cap="sq">
              <a:solidFill>
                <a:srgbClr val="02C39A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005840" y="6675120"/>
            <a:ext cx="1005840" cy="822960"/>
            <a:chOff x="0" y="0"/>
            <a:chExt cx="1341120" cy="1097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41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975" t="0" r="-54975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76200"/>
              <a:ext cx="134112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157984" y="6729984"/>
            <a:ext cx="8229600" cy="694944"/>
            <a:chOff x="0" y="0"/>
            <a:chExt cx="10972800" cy="9265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743" r="0" b="-18074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1097280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A2E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Gradient Boosting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157984" y="7461504"/>
            <a:ext cx="10058400" cy="438912"/>
            <a:chOff x="0" y="0"/>
            <a:chExt cx="13411200" cy="58521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411200" cy="585216"/>
            </a:xfrm>
            <a:custGeom>
              <a:avLst/>
              <a:gdLst/>
              <a:ahLst/>
              <a:cxnLst/>
              <a:rect r="r" b="b" t="t" l="l"/>
              <a:pathLst>
                <a:path h="585216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532" r="0" b="-39653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3411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Params: n_estimators=100, learning_rate=0.1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157984" y="7900416"/>
            <a:ext cx="10058400" cy="438912"/>
            <a:chOff x="0" y="0"/>
            <a:chExt cx="13411200" cy="58521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411200" cy="585216"/>
            </a:xfrm>
            <a:custGeom>
              <a:avLst/>
              <a:gdLst/>
              <a:ahLst/>
              <a:cxnLst/>
              <a:rect r="r" b="b" t="t" l="l"/>
              <a:pathLst>
                <a:path h="585216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532" r="0" b="-39653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3411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2809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Often best performer on tabular data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25167" y="8954767"/>
            <a:ext cx="16837657" cy="1018537"/>
            <a:chOff x="0" y="0"/>
            <a:chExt cx="22450209" cy="135804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450171" cy="1358011"/>
            </a:xfrm>
            <a:custGeom>
              <a:avLst/>
              <a:gdLst/>
              <a:ahLst/>
              <a:cxnLst/>
              <a:rect r="r" b="b" t="t" l="l"/>
              <a:pathLst>
                <a:path h="1358011" w="22450171">
                  <a:moveTo>
                    <a:pt x="0" y="0"/>
                  </a:moveTo>
                  <a:lnTo>
                    <a:pt x="22450171" y="0"/>
                  </a:lnTo>
                  <a:lnTo>
                    <a:pt x="22450171" y="1358011"/>
                  </a:lnTo>
                  <a:lnTo>
                    <a:pt x="0" y="1358011"/>
                  </a:lnTo>
                  <a:close/>
                </a:path>
              </a:pathLst>
            </a:custGeom>
            <a:solidFill>
              <a:srgbClr val="E8F5E9"/>
            </a:solidFill>
            <a:ln w="12700" cap="sq">
              <a:solidFill>
                <a:srgbClr val="81C784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005840" y="9015984"/>
            <a:ext cx="14131357" cy="822960"/>
            <a:chOff x="0" y="0"/>
            <a:chExt cx="18841809" cy="10972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884181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841810">
                  <a:moveTo>
                    <a:pt x="0" y="0"/>
                  </a:moveTo>
                  <a:lnTo>
                    <a:pt x="18841810" y="0"/>
                  </a:lnTo>
                  <a:lnTo>
                    <a:pt x="1884181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370" r="-15178" b="-33537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18841809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E7D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GridSearchCV Tuning  </a:t>
              </a:r>
              <a:r>
                <a:rPr lang="en-US" sz="2200">
                  <a:solidFill>
                    <a:srgbClr val="1A2E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5-fold cross-validation on F1-score (handles 8.5% class imbalance)  |  Best params auto-selected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5611140" y="36576"/>
            <a:ext cx="2478024" cy="2478024"/>
            <a:chOff x="0" y="0"/>
            <a:chExt cx="6350000" cy="6350000"/>
          </a:xfrm>
        </p:grpSpPr>
        <p:sp>
          <p:nvSpPr>
            <p:cNvPr name="Freeform 59" id="59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99623" y="-141581"/>
            <a:ext cx="2449176" cy="2449176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907272"/>
            <a:ext cx="17099298" cy="7569902"/>
            <a:chOff x="0" y="0"/>
            <a:chExt cx="13412546" cy="59377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12474" cy="5937699"/>
            </a:xfrm>
            <a:custGeom>
              <a:avLst/>
              <a:gdLst/>
              <a:ahLst/>
              <a:cxnLst/>
              <a:rect r="r" b="b" t="t" l="l"/>
              <a:pathLst>
                <a:path h="5937699" w="13412474">
                  <a:moveTo>
                    <a:pt x="0" y="0"/>
                  </a:moveTo>
                  <a:lnTo>
                    <a:pt x="13412474" y="0"/>
                  </a:lnTo>
                  <a:lnTo>
                    <a:pt x="13412474" y="5937699"/>
                  </a:lnTo>
                  <a:lnTo>
                    <a:pt x="0" y="5937699"/>
                  </a:lnTo>
                  <a:close/>
                </a:path>
              </a:pathLst>
            </a:custGeom>
            <a:blipFill>
              <a:blip r:embed="rId4"/>
              <a:stretch>
                <a:fillRect l="0" t="-390" r="0" b="-390"/>
              </a:stretch>
            </a:blipFill>
            <a:ln w="12700" cap="sq">
              <a:solidFill>
                <a:srgbClr val="E2EE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678992"/>
            <a:ext cx="16824960" cy="1005840"/>
            <a:chOff x="0" y="0"/>
            <a:chExt cx="22433280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14300"/>
              <a:ext cx="22433280" cy="1455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A2E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Validation &amp; Evaluation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640080"/>
            <a:ext cx="16824960" cy="1005840"/>
            <a:chOff x="0" y="0"/>
            <a:chExt cx="2243328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2433280" cy="1455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A2E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 Application Deployment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8823" y="1907543"/>
            <a:ext cx="4048763" cy="1397003"/>
            <a:chOff x="0" y="0"/>
            <a:chExt cx="5398351" cy="18626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98389" cy="1862709"/>
            </a:xfrm>
            <a:custGeom>
              <a:avLst/>
              <a:gdLst/>
              <a:ahLst/>
              <a:cxnLst/>
              <a:rect r="r" b="b" t="t" l="l"/>
              <a:pathLst>
                <a:path h="1862709" w="5398389">
                  <a:moveTo>
                    <a:pt x="0" y="0"/>
                  </a:moveTo>
                  <a:lnTo>
                    <a:pt x="5398389" y="0"/>
                  </a:lnTo>
                  <a:lnTo>
                    <a:pt x="5398389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028090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731520" y="1975104"/>
            <a:ext cx="4023360" cy="694944"/>
            <a:chOff x="0" y="0"/>
            <a:chExt cx="5364480" cy="9265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808" r="0" b="-6280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3644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Streamlit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31520" y="2633472"/>
            <a:ext cx="4023360" cy="438912"/>
            <a:chOff x="0" y="0"/>
            <a:chExt cx="5364480" cy="5852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64480" cy="585216"/>
            </a:xfrm>
            <a:custGeom>
              <a:avLst/>
              <a:gdLst/>
              <a:ahLst/>
              <a:cxnLst/>
              <a:rect r="r" b="b" t="t" l="l"/>
              <a:pathLst>
                <a:path h="58521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3644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0F5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Web framework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016503" y="1907543"/>
            <a:ext cx="4048763" cy="1397003"/>
            <a:chOff x="0" y="0"/>
            <a:chExt cx="5398351" cy="18626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98389" cy="1862709"/>
            </a:xfrm>
            <a:custGeom>
              <a:avLst/>
              <a:gdLst/>
              <a:ahLst/>
              <a:cxnLst/>
              <a:rect r="r" b="b" t="t" l="l"/>
              <a:pathLst>
                <a:path h="1862709" w="5398389">
                  <a:moveTo>
                    <a:pt x="0" y="0"/>
                  </a:moveTo>
                  <a:lnTo>
                    <a:pt x="5398389" y="0"/>
                  </a:lnTo>
                  <a:lnTo>
                    <a:pt x="5398389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00A896"/>
            </a:solidFill>
            <a:ln w="25400" cap="sq">
              <a:solidFill>
                <a:srgbClr val="00A896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5029200" y="1975104"/>
            <a:ext cx="4023360" cy="694944"/>
            <a:chOff x="0" y="0"/>
            <a:chExt cx="5364480" cy="9265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808" r="0" b="-6280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53644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scikit-learn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029200" y="2633472"/>
            <a:ext cx="4023360" cy="438912"/>
            <a:chOff x="0" y="0"/>
            <a:chExt cx="5364480" cy="5852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64480" cy="585216"/>
            </a:xfrm>
            <a:custGeom>
              <a:avLst/>
              <a:gdLst/>
              <a:ahLst/>
              <a:cxnLst/>
              <a:rect r="r" b="b" t="t" l="l"/>
              <a:pathLst>
                <a:path h="58521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3644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0F5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ML library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314183" y="1907543"/>
            <a:ext cx="4048763" cy="1397003"/>
            <a:chOff x="0" y="0"/>
            <a:chExt cx="5398351" cy="186267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98389" cy="1862709"/>
            </a:xfrm>
            <a:custGeom>
              <a:avLst/>
              <a:gdLst/>
              <a:ahLst/>
              <a:cxnLst/>
              <a:rect r="r" b="b" t="t" l="l"/>
              <a:pathLst>
                <a:path h="1862709" w="5398389">
                  <a:moveTo>
                    <a:pt x="0" y="0"/>
                  </a:moveTo>
                  <a:lnTo>
                    <a:pt x="5398389" y="0"/>
                  </a:lnTo>
                  <a:lnTo>
                    <a:pt x="5398389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02C39A"/>
            </a:solidFill>
            <a:ln w="25400" cap="sq">
              <a:solidFill>
                <a:srgbClr val="02C39A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326880" y="1975104"/>
            <a:ext cx="4023360" cy="694944"/>
            <a:chOff x="0" y="0"/>
            <a:chExt cx="5364480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808" r="0" b="-6280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53644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joblib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26880" y="2633472"/>
            <a:ext cx="4023360" cy="438912"/>
            <a:chOff x="0" y="0"/>
            <a:chExt cx="5364480" cy="5852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64480" cy="585216"/>
            </a:xfrm>
            <a:custGeom>
              <a:avLst/>
              <a:gdLst/>
              <a:ahLst/>
              <a:cxnLst/>
              <a:rect r="r" b="b" t="t" l="l"/>
              <a:pathLst>
                <a:path h="58521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3644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0F5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 serialization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6167459" y="-219456"/>
            <a:ext cx="2271903" cy="2271903"/>
            <a:chOff x="0" y="0"/>
            <a:chExt cx="6350000" cy="6350000"/>
          </a:xfrm>
        </p:grpSpPr>
        <p:sp>
          <p:nvSpPr>
            <p:cNvPr name="Freeform 30" id="30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611863" y="1907543"/>
            <a:ext cx="4048763" cy="1397003"/>
            <a:chOff x="0" y="0"/>
            <a:chExt cx="5398351" cy="186267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398389" cy="1862709"/>
            </a:xfrm>
            <a:custGeom>
              <a:avLst/>
              <a:gdLst/>
              <a:ahLst/>
              <a:cxnLst/>
              <a:rect r="r" b="b" t="t" l="l"/>
              <a:pathLst>
                <a:path h="1862709" w="5398389">
                  <a:moveTo>
                    <a:pt x="0" y="0"/>
                  </a:moveTo>
                  <a:lnTo>
                    <a:pt x="5398389" y="0"/>
                  </a:lnTo>
                  <a:lnTo>
                    <a:pt x="5398389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05668D"/>
            </a:solidFill>
            <a:ln w="25400" cap="sq">
              <a:solidFill>
                <a:srgbClr val="05668D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3624560" y="1975104"/>
            <a:ext cx="4023360" cy="694944"/>
            <a:chOff x="0" y="0"/>
            <a:chExt cx="5364480" cy="92659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808" r="0" b="-6280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53644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GitHub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624560" y="2633472"/>
            <a:ext cx="4023360" cy="438912"/>
            <a:chOff x="0" y="0"/>
            <a:chExt cx="5364480" cy="58521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64480" cy="585216"/>
            </a:xfrm>
            <a:custGeom>
              <a:avLst/>
              <a:gdLst/>
              <a:ahLst/>
              <a:cxnLst/>
              <a:rect r="r" b="b" t="t" l="l"/>
              <a:pathLst>
                <a:path h="58521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53644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0F5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Version control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25167" y="3651247"/>
            <a:ext cx="16837657" cy="1073401"/>
            <a:chOff x="0" y="0"/>
            <a:chExt cx="22450209" cy="143120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450171" cy="1431163"/>
            </a:xfrm>
            <a:custGeom>
              <a:avLst/>
              <a:gdLst/>
              <a:ahLst/>
              <a:cxnLst/>
              <a:rect r="r" b="b" t="t" l="l"/>
              <a:pathLst>
                <a:path h="1431163" w="22450171">
                  <a:moveTo>
                    <a:pt x="0" y="0"/>
                  </a:moveTo>
                  <a:lnTo>
                    <a:pt x="22450171" y="0"/>
                  </a:lnTo>
                  <a:lnTo>
                    <a:pt x="22450171" y="1431163"/>
                  </a:lnTo>
                  <a:lnTo>
                    <a:pt x="0" y="1431163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EF0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718823" y="3644903"/>
            <a:ext cx="976379" cy="1086107"/>
            <a:chOff x="0" y="0"/>
            <a:chExt cx="1301839" cy="144814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01877" cy="1448181"/>
            </a:xfrm>
            <a:custGeom>
              <a:avLst/>
              <a:gdLst/>
              <a:ahLst/>
              <a:cxnLst/>
              <a:rect r="r" b="b" t="t" l="l"/>
              <a:pathLst>
                <a:path h="1448181" w="1301877">
                  <a:moveTo>
                    <a:pt x="0" y="0"/>
                  </a:moveTo>
                  <a:lnTo>
                    <a:pt x="1301877" y="0"/>
                  </a:lnTo>
                  <a:lnTo>
                    <a:pt x="1301877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028090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731520" y="3657600"/>
            <a:ext cx="950976" cy="1060704"/>
            <a:chOff x="0" y="0"/>
            <a:chExt cx="1267968" cy="141427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67968" cy="1414272"/>
            </a:xfrm>
            <a:custGeom>
              <a:avLst/>
              <a:gdLst/>
              <a:ahLst/>
              <a:cxnLst/>
              <a:rect r="r" b="b" t="t" l="l"/>
              <a:pathLst>
                <a:path h="1414272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3107" t="0" r="-93107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1267968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865376" y="3730752"/>
            <a:ext cx="5852160" cy="512064"/>
            <a:chOff x="0" y="0"/>
            <a:chExt cx="7802880" cy="68275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802880" cy="682752"/>
            </a:xfrm>
            <a:custGeom>
              <a:avLst/>
              <a:gdLst/>
              <a:ahLst/>
              <a:cxnLst/>
              <a:rect r="r" b="b" t="t" l="l"/>
              <a:pathLst>
                <a:path h="68275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78028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2E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Run scripts in Colab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865376" y="4206240"/>
            <a:ext cx="15361920" cy="438912"/>
            <a:chOff x="0" y="0"/>
            <a:chExt cx="20482560" cy="58521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0482561" cy="585216"/>
            </a:xfrm>
            <a:custGeom>
              <a:avLst/>
              <a:gdLst/>
              <a:ahLst/>
              <a:cxnLst/>
              <a:rect r="r" b="b" t="t" l="l"/>
              <a:pathLst>
                <a:path h="585216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04825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null handler → duplicates → EDA → features → modeling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25167" y="4894831"/>
            <a:ext cx="16837657" cy="1073401"/>
            <a:chOff x="0" y="0"/>
            <a:chExt cx="22450209" cy="143120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450171" cy="1431163"/>
            </a:xfrm>
            <a:custGeom>
              <a:avLst/>
              <a:gdLst/>
              <a:ahLst/>
              <a:cxnLst/>
              <a:rect r="r" b="b" t="t" l="l"/>
              <a:pathLst>
                <a:path h="1431163" w="22450171">
                  <a:moveTo>
                    <a:pt x="0" y="0"/>
                  </a:moveTo>
                  <a:lnTo>
                    <a:pt x="22450171" y="0"/>
                  </a:lnTo>
                  <a:lnTo>
                    <a:pt x="22450171" y="1431163"/>
                  </a:lnTo>
                  <a:lnTo>
                    <a:pt x="0" y="1431163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EF0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718823" y="4888487"/>
            <a:ext cx="976379" cy="1086107"/>
            <a:chOff x="0" y="0"/>
            <a:chExt cx="1301839" cy="144814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301877" cy="1448181"/>
            </a:xfrm>
            <a:custGeom>
              <a:avLst/>
              <a:gdLst/>
              <a:ahLst/>
              <a:cxnLst/>
              <a:rect r="r" b="b" t="t" l="l"/>
              <a:pathLst>
                <a:path h="1448181" w="1301877">
                  <a:moveTo>
                    <a:pt x="0" y="0"/>
                  </a:moveTo>
                  <a:lnTo>
                    <a:pt x="1301877" y="0"/>
                  </a:lnTo>
                  <a:lnTo>
                    <a:pt x="1301877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028090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731520" y="4901184"/>
            <a:ext cx="950976" cy="1060704"/>
            <a:chOff x="0" y="0"/>
            <a:chExt cx="1267968" cy="141427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67968" cy="1414272"/>
            </a:xfrm>
            <a:custGeom>
              <a:avLst/>
              <a:gdLst/>
              <a:ahLst/>
              <a:cxnLst/>
              <a:rect r="r" b="b" t="t" l="l"/>
              <a:pathLst>
                <a:path h="1414272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3107" t="0" r="-93107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1267968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865376" y="4974336"/>
            <a:ext cx="5852160" cy="512064"/>
            <a:chOff x="0" y="0"/>
            <a:chExt cx="7802880" cy="6827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802880" cy="682752"/>
            </a:xfrm>
            <a:custGeom>
              <a:avLst/>
              <a:gdLst/>
              <a:ahLst/>
              <a:cxnLst/>
              <a:rect r="r" b="b" t="t" l="l"/>
              <a:pathLst>
                <a:path h="68275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78028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2E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Download .pkl files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865376" y="5449824"/>
            <a:ext cx="15361920" cy="438912"/>
            <a:chOff x="0" y="0"/>
            <a:chExt cx="20482560" cy="58521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0482561" cy="585216"/>
            </a:xfrm>
            <a:custGeom>
              <a:avLst/>
              <a:gdLst/>
              <a:ahLst/>
              <a:cxnLst/>
              <a:rect r="r" b="b" t="t" l="l"/>
              <a:pathLst>
                <a:path h="585216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204825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diabetes_model.pkl  |  scaler.pkl  |  feature_cols.pkl  |  label_encoders.pkl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25167" y="6138415"/>
            <a:ext cx="16837657" cy="1073401"/>
            <a:chOff x="0" y="0"/>
            <a:chExt cx="22450209" cy="143120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2450171" cy="1431163"/>
            </a:xfrm>
            <a:custGeom>
              <a:avLst/>
              <a:gdLst/>
              <a:ahLst/>
              <a:cxnLst/>
              <a:rect r="r" b="b" t="t" l="l"/>
              <a:pathLst>
                <a:path h="1431163" w="22450171">
                  <a:moveTo>
                    <a:pt x="0" y="0"/>
                  </a:moveTo>
                  <a:lnTo>
                    <a:pt x="22450171" y="0"/>
                  </a:lnTo>
                  <a:lnTo>
                    <a:pt x="22450171" y="1431163"/>
                  </a:lnTo>
                  <a:lnTo>
                    <a:pt x="0" y="1431163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EF0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718823" y="6132071"/>
            <a:ext cx="976379" cy="1086107"/>
            <a:chOff x="0" y="0"/>
            <a:chExt cx="1301839" cy="144814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301877" cy="1448181"/>
            </a:xfrm>
            <a:custGeom>
              <a:avLst/>
              <a:gdLst/>
              <a:ahLst/>
              <a:cxnLst/>
              <a:rect r="r" b="b" t="t" l="l"/>
              <a:pathLst>
                <a:path h="1448181" w="1301877">
                  <a:moveTo>
                    <a:pt x="0" y="0"/>
                  </a:moveTo>
                  <a:lnTo>
                    <a:pt x="1301877" y="0"/>
                  </a:lnTo>
                  <a:lnTo>
                    <a:pt x="1301877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028090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731520" y="6144768"/>
            <a:ext cx="950976" cy="1060704"/>
            <a:chOff x="0" y="0"/>
            <a:chExt cx="1267968" cy="141427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267968" cy="1414272"/>
            </a:xfrm>
            <a:custGeom>
              <a:avLst/>
              <a:gdLst/>
              <a:ahLst/>
              <a:cxnLst/>
              <a:rect r="r" b="b" t="t" l="l"/>
              <a:pathLst>
                <a:path h="1414272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3107" t="0" r="-93107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57150"/>
              <a:ext cx="1267968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865376" y="6217920"/>
            <a:ext cx="5852160" cy="512064"/>
            <a:chOff x="0" y="0"/>
            <a:chExt cx="7802880" cy="68275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802880" cy="682752"/>
            </a:xfrm>
            <a:custGeom>
              <a:avLst/>
              <a:gdLst/>
              <a:ahLst/>
              <a:cxnLst/>
              <a:rect r="r" b="b" t="t" l="l"/>
              <a:pathLst>
                <a:path h="68275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78028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2E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Push to GitHub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865376" y="6693408"/>
            <a:ext cx="15361920" cy="438912"/>
            <a:chOff x="0" y="0"/>
            <a:chExt cx="20482560" cy="58521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0482561" cy="585216"/>
            </a:xfrm>
            <a:custGeom>
              <a:avLst/>
              <a:gdLst/>
              <a:ahLst/>
              <a:cxnLst/>
              <a:rect r="r" b="b" t="t" l="l"/>
              <a:pathLst>
                <a:path h="585216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204825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app.py + all .pkl files + requirements.txt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725167" y="7381999"/>
            <a:ext cx="16837657" cy="1073401"/>
            <a:chOff x="0" y="0"/>
            <a:chExt cx="22450209" cy="143120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2450171" cy="1431163"/>
            </a:xfrm>
            <a:custGeom>
              <a:avLst/>
              <a:gdLst/>
              <a:ahLst/>
              <a:cxnLst/>
              <a:rect r="r" b="b" t="t" l="l"/>
              <a:pathLst>
                <a:path h="1431163" w="22450171">
                  <a:moveTo>
                    <a:pt x="0" y="0"/>
                  </a:moveTo>
                  <a:lnTo>
                    <a:pt x="22450171" y="0"/>
                  </a:lnTo>
                  <a:lnTo>
                    <a:pt x="22450171" y="1431163"/>
                  </a:lnTo>
                  <a:lnTo>
                    <a:pt x="0" y="1431163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EF0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718823" y="7375655"/>
            <a:ext cx="976379" cy="1086107"/>
            <a:chOff x="0" y="0"/>
            <a:chExt cx="1301839" cy="144814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301877" cy="1448181"/>
            </a:xfrm>
            <a:custGeom>
              <a:avLst/>
              <a:gdLst/>
              <a:ahLst/>
              <a:cxnLst/>
              <a:rect r="r" b="b" t="t" l="l"/>
              <a:pathLst>
                <a:path h="1448181" w="1301877">
                  <a:moveTo>
                    <a:pt x="0" y="0"/>
                  </a:moveTo>
                  <a:lnTo>
                    <a:pt x="1301877" y="0"/>
                  </a:lnTo>
                  <a:lnTo>
                    <a:pt x="1301877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028090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731520" y="7388352"/>
            <a:ext cx="950976" cy="1060704"/>
            <a:chOff x="0" y="0"/>
            <a:chExt cx="1267968" cy="141427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267968" cy="1414272"/>
            </a:xfrm>
            <a:custGeom>
              <a:avLst/>
              <a:gdLst/>
              <a:ahLst/>
              <a:cxnLst/>
              <a:rect r="r" b="b" t="t" l="l"/>
              <a:pathLst>
                <a:path h="1414272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3107" t="0" r="-93107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57150"/>
              <a:ext cx="1267968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865376" y="7461504"/>
            <a:ext cx="5852160" cy="512064"/>
            <a:chOff x="0" y="0"/>
            <a:chExt cx="7802880" cy="68275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802880" cy="682752"/>
            </a:xfrm>
            <a:custGeom>
              <a:avLst/>
              <a:gdLst/>
              <a:ahLst/>
              <a:cxnLst/>
              <a:rect r="r" b="b" t="t" l="l"/>
              <a:pathLst>
                <a:path h="68275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78028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2E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Deploy on Streamlit Cloud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865376" y="7936992"/>
            <a:ext cx="15361920" cy="438912"/>
            <a:chOff x="0" y="0"/>
            <a:chExt cx="20482560" cy="58521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0482561" cy="585216"/>
            </a:xfrm>
            <a:custGeom>
              <a:avLst/>
              <a:gdLst/>
              <a:ahLst/>
              <a:cxnLst/>
              <a:rect r="r" b="b" t="t" l="l"/>
              <a:pathLst>
                <a:path h="585216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204825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share.streamlit.io → connect repo → set main file: app.py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725167" y="8625583"/>
            <a:ext cx="16837657" cy="1073401"/>
            <a:chOff x="0" y="0"/>
            <a:chExt cx="22450209" cy="1431201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2450171" cy="1431163"/>
            </a:xfrm>
            <a:custGeom>
              <a:avLst/>
              <a:gdLst/>
              <a:ahLst/>
              <a:cxnLst/>
              <a:rect r="r" b="b" t="t" l="l"/>
              <a:pathLst>
                <a:path h="1431163" w="22450171">
                  <a:moveTo>
                    <a:pt x="0" y="0"/>
                  </a:moveTo>
                  <a:lnTo>
                    <a:pt x="22450171" y="0"/>
                  </a:lnTo>
                  <a:lnTo>
                    <a:pt x="22450171" y="1431163"/>
                  </a:lnTo>
                  <a:lnTo>
                    <a:pt x="0" y="1431163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EF0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718823" y="8619239"/>
            <a:ext cx="976379" cy="1086107"/>
            <a:chOff x="0" y="0"/>
            <a:chExt cx="1301839" cy="1448143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301877" cy="1448181"/>
            </a:xfrm>
            <a:custGeom>
              <a:avLst/>
              <a:gdLst/>
              <a:ahLst/>
              <a:cxnLst/>
              <a:rect r="r" b="b" t="t" l="l"/>
              <a:pathLst>
                <a:path h="1448181" w="1301877">
                  <a:moveTo>
                    <a:pt x="0" y="0"/>
                  </a:moveTo>
                  <a:lnTo>
                    <a:pt x="1301877" y="0"/>
                  </a:lnTo>
                  <a:lnTo>
                    <a:pt x="1301877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02C39A"/>
            </a:solidFill>
            <a:ln w="25400" cap="sq">
              <a:solidFill>
                <a:srgbClr val="02C39A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731520" y="8631936"/>
            <a:ext cx="950976" cy="1060704"/>
            <a:chOff x="0" y="0"/>
            <a:chExt cx="1267968" cy="141427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267968" cy="1414272"/>
            </a:xfrm>
            <a:custGeom>
              <a:avLst/>
              <a:gdLst/>
              <a:ahLst/>
              <a:cxnLst/>
              <a:rect r="r" b="b" t="t" l="l"/>
              <a:pathLst>
                <a:path h="1414272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3107" t="0" r="-93107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57150"/>
              <a:ext cx="1267968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865376" y="8705088"/>
            <a:ext cx="5852160" cy="512064"/>
            <a:chOff x="0" y="0"/>
            <a:chExt cx="7802880" cy="68275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7802880" cy="682752"/>
            </a:xfrm>
            <a:custGeom>
              <a:avLst/>
              <a:gdLst/>
              <a:ahLst/>
              <a:cxnLst/>
              <a:rect r="r" b="b" t="t" l="l"/>
              <a:pathLst>
                <a:path h="68275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78028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2E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Get live link 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865376" y="9180576"/>
            <a:ext cx="15361920" cy="438912"/>
            <a:chOff x="0" y="0"/>
            <a:chExt cx="20482560" cy="585216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0482561" cy="585216"/>
            </a:xfrm>
            <a:custGeom>
              <a:avLst/>
              <a:gdLst/>
              <a:ahLst/>
              <a:cxnLst/>
              <a:rect r="r" b="b" t="t" l="l"/>
              <a:pathLst>
                <a:path h="585216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204825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https://your-name-diabetes-app.streamlit.app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718444" y="0"/>
            <a:ext cx="2569556" cy="2569556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640080"/>
            <a:ext cx="16824960" cy="1005840"/>
            <a:chOff x="0" y="0"/>
            <a:chExt cx="2243328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14300"/>
              <a:ext cx="22433280" cy="1455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A2E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 Application Deployment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975104"/>
            <a:ext cx="4023360" cy="694944"/>
            <a:chOff x="0" y="0"/>
            <a:chExt cx="5364480" cy="9265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808" r="0" b="-6280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3644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Streamlit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029200" y="1975104"/>
            <a:ext cx="4023360" cy="694944"/>
            <a:chOff x="0" y="0"/>
            <a:chExt cx="5364480" cy="9265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808" r="0" b="-6280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53644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scikit-learn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326880" y="1975104"/>
            <a:ext cx="4023360" cy="694944"/>
            <a:chOff x="0" y="0"/>
            <a:chExt cx="5364480" cy="9265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808" r="0" b="-6280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53644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joblib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91762" y="1975104"/>
            <a:ext cx="15504475" cy="7960119"/>
          </a:xfrm>
          <a:custGeom>
            <a:avLst/>
            <a:gdLst/>
            <a:ahLst/>
            <a:cxnLst/>
            <a:rect r="r" b="b" t="t" l="l"/>
            <a:pathLst>
              <a:path h="7960119" w="15504475">
                <a:moveTo>
                  <a:pt x="0" y="0"/>
                </a:moveTo>
                <a:lnTo>
                  <a:pt x="15504476" y="0"/>
                </a:lnTo>
                <a:lnTo>
                  <a:pt x="15504476" y="7960119"/>
                </a:lnTo>
                <a:lnTo>
                  <a:pt x="0" y="79601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821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472821">
                  <a:moveTo>
                    <a:pt x="0" y="0"/>
                  </a:moveTo>
                  <a:lnTo>
                    <a:pt x="472821" y="0"/>
                  </a:lnTo>
                  <a:lnTo>
                    <a:pt x="47282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02C39A"/>
            </a:solidFill>
            <a:ln w="25400" cap="sq">
              <a:solidFill>
                <a:srgbClr val="02C39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560320"/>
            <a:ext cx="16459200" cy="1828800"/>
            <a:chOff x="0" y="0"/>
            <a:chExt cx="21945600" cy="243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09550"/>
              <a:ext cx="21945600" cy="2647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480"/>
                </a:lnSpc>
              </a:pPr>
              <a:r>
                <a:rPr lang="en-US" sz="10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4663440"/>
            <a:ext cx="16459200" cy="731520"/>
            <a:chOff x="0" y="0"/>
            <a:chExt cx="21945600" cy="975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9456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A0C8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Diabetes Risk Prediction — Final Data Science Project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6022343"/>
            <a:ext cx="3225803" cy="1488443"/>
            <a:chOff x="0" y="0"/>
            <a:chExt cx="4301071" cy="19845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01109" cy="1984629"/>
            </a:xfrm>
            <a:custGeom>
              <a:avLst/>
              <a:gdLst/>
              <a:ahLst/>
              <a:cxnLst/>
              <a:rect r="r" b="b" t="t" l="l"/>
              <a:pathLst>
                <a:path h="1984629" w="4301109">
                  <a:moveTo>
                    <a:pt x="0" y="0"/>
                  </a:moveTo>
                  <a:lnTo>
                    <a:pt x="4301109" y="0"/>
                  </a:lnTo>
                  <a:lnTo>
                    <a:pt x="4301109" y="1984629"/>
                  </a:lnTo>
                  <a:lnTo>
                    <a:pt x="0" y="1984629"/>
                  </a:lnTo>
                  <a:close/>
                </a:path>
              </a:pathLst>
            </a:custGeom>
            <a:solidFill>
              <a:srgbClr val="0A3D52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6089904"/>
            <a:ext cx="3200400" cy="512064"/>
            <a:chOff x="0" y="0"/>
            <a:chExt cx="4267200" cy="6827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6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267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6583680"/>
            <a:ext cx="3200400" cy="768096"/>
            <a:chOff x="0" y="0"/>
            <a:chExt cx="4267200" cy="10241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67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26720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A0C8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100K patients, 16 features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339847" y="6022343"/>
            <a:ext cx="3225803" cy="1488443"/>
            <a:chOff x="0" y="0"/>
            <a:chExt cx="4301071" cy="198459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301109" cy="1984629"/>
            </a:xfrm>
            <a:custGeom>
              <a:avLst/>
              <a:gdLst/>
              <a:ahLst/>
              <a:cxnLst/>
              <a:rect r="r" b="b" t="t" l="l"/>
              <a:pathLst>
                <a:path h="1984629" w="4301109">
                  <a:moveTo>
                    <a:pt x="0" y="0"/>
                  </a:moveTo>
                  <a:lnTo>
                    <a:pt x="4301109" y="0"/>
                  </a:lnTo>
                  <a:lnTo>
                    <a:pt x="4301109" y="1984629"/>
                  </a:lnTo>
                  <a:lnTo>
                    <a:pt x="0" y="1984629"/>
                  </a:lnTo>
                  <a:close/>
                </a:path>
              </a:pathLst>
            </a:custGeom>
            <a:solidFill>
              <a:srgbClr val="0A3D52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4352544" y="6089904"/>
            <a:ext cx="3200400" cy="512064"/>
            <a:chOff x="0" y="0"/>
            <a:chExt cx="426720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6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267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New Features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352544" y="6583680"/>
            <a:ext cx="3200400" cy="768096"/>
            <a:chOff x="0" y="0"/>
            <a:chExt cx="4267200" cy="10241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267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26720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A0C8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engineered features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777991" y="6022343"/>
            <a:ext cx="3225803" cy="1488443"/>
            <a:chOff x="0" y="0"/>
            <a:chExt cx="4301071" cy="19845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01109" cy="1984629"/>
            </a:xfrm>
            <a:custGeom>
              <a:avLst/>
              <a:gdLst/>
              <a:ahLst/>
              <a:cxnLst/>
              <a:rect r="r" b="b" t="t" l="l"/>
              <a:pathLst>
                <a:path h="1984629" w="4301109">
                  <a:moveTo>
                    <a:pt x="0" y="0"/>
                  </a:moveTo>
                  <a:lnTo>
                    <a:pt x="4301109" y="0"/>
                  </a:lnTo>
                  <a:lnTo>
                    <a:pt x="4301109" y="1984629"/>
                  </a:lnTo>
                  <a:lnTo>
                    <a:pt x="0" y="1984629"/>
                  </a:lnTo>
                  <a:close/>
                </a:path>
              </a:pathLst>
            </a:custGeom>
            <a:solidFill>
              <a:srgbClr val="0A3D52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7790688" y="6089904"/>
            <a:ext cx="3200400" cy="512064"/>
            <a:chOff x="0" y="0"/>
            <a:chExt cx="4267200" cy="6827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26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267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Algorithms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790688" y="6583680"/>
            <a:ext cx="3200400" cy="768096"/>
            <a:chOff x="0" y="0"/>
            <a:chExt cx="4267200" cy="102412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67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426720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A0C8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trained + GridSearchCV tuned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216135" y="6022343"/>
            <a:ext cx="3225803" cy="1488443"/>
            <a:chOff x="0" y="0"/>
            <a:chExt cx="4301071" cy="198459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301109" cy="1984629"/>
            </a:xfrm>
            <a:custGeom>
              <a:avLst/>
              <a:gdLst/>
              <a:ahLst/>
              <a:cxnLst/>
              <a:rect r="r" b="b" t="t" l="l"/>
              <a:pathLst>
                <a:path h="1984629" w="4301109">
                  <a:moveTo>
                    <a:pt x="0" y="0"/>
                  </a:moveTo>
                  <a:lnTo>
                    <a:pt x="4301109" y="0"/>
                  </a:lnTo>
                  <a:lnTo>
                    <a:pt x="4301109" y="1984629"/>
                  </a:lnTo>
                  <a:lnTo>
                    <a:pt x="0" y="1984629"/>
                  </a:lnTo>
                  <a:close/>
                </a:path>
              </a:pathLst>
            </a:custGeom>
            <a:solidFill>
              <a:srgbClr val="0A3D52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1228832" y="6089904"/>
            <a:ext cx="3200400" cy="512064"/>
            <a:chOff x="0" y="0"/>
            <a:chExt cx="4267200" cy="68275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26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4267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Metrics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228832" y="6583680"/>
            <a:ext cx="3200400" cy="768096"/>
            <a:chOff x="0" y="0"/>
            <a:chExt cx="4267200" cy="102412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67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426720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A0C8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Precision, Recall, F1, AUC-ROC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654279" y="6022343"/>
            <a:ext cx="3225803" cy="1488443"/>
            <a:chOff x="0" y="0"/>
            <a:chExt cx="4301071" cy="198459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301109" cy="1984629"/>
            </a:xfrm>
            <a:custGeom>
              <a:avLst/>
              <a:gdLst/>
              <a:ahLst/>
              <a:cxnLst/>
              <a:rect r="r" b="b" t="t" l="l"/>
              <a:pathLst>
                <a:path h="1984629" w="4301109">
                  <a:moveTo>
                    <a:pt x="0" y="0"/>
                  </a:moveTo>
                  <a:lnTo>
                    <a:pt x="4301109" y="0"/>
                  </a:lnTo>
                  <a:lnTo>
                    <a:pt x="4301109" y="1984629"/>
                  </a:lnTo>
                  <a:lnTo>
                    <a:pt x="0" y="1984629"/>
                  </a:lnTo>
                  <a:close/>
                </a:path>
              </a:pathLst>
            </a:custGeom>
            <a:solidFill>
              <a:srgbClr val="0A3D52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4666976" y="6089904"/>
            <a:ext cx="3200400" cy="512064"/>
            <a:chOff x="0" y="0"/>
            <a:chExt cx="4267200" cy="682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26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267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Deployed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4666976" y="6583680"/>
            <a:ext cx="3200400" cy="768096"/>
            <a:chOff x="0" y="0"/>
            <a:chExt cx="4267200" cy="102412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267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426720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A0C8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Streamlit Cloud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4996160" y="-12697"/>
            <a:ext cx="3291840" cy="3291840"/>
            <a:chOff x="0" y="0"/>
            <a:chExt cx="6350000" cy="6350000"/>
          </a:xfrm>
        </p:grpSpPr>
        <p:sp>
          <p:nvSpPr>
            <p:cNvPr name="Freeform 51" id="51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DAHLCUzxZkQ</dc:identifier>
  <dcterms:modified xsi:type="dcterms:W3CDTF">2011-08-01T06:04:30Z</dcterms:modified>
  <cp:revision>1</cp:revision>
  <dc:title>Diabetes_Project_Presentation.pptx</dc:title>
</cp:coreProperties>
</file>